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comments/comment1.xml" ContentType="application/vnd.openxmlformats-officedocument.presentationml.comment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1414" r:id="rId2"/>
    <p:sldId id="1475" r:id="rId3"/>
    <p:sldId id="1477" r:id="rId4"/>
    <p:sldId id="1469" r:id="rId5"/>
    <p:sldId id="1478" r:id="rId6"/>
    <p:sldId id="1480" r:id="rId7"/>
    <p:sldId id="1481" r:id="rId8"/>
    <p:sldId id="1482" r:id="rId9"/>
    <p:sldId id="1483" r:id="rId10"/>
    <p:sldId id="1484" r:id="rId11"/>
    <p:sldId id="1472" r:id="rId12"/>
    <p:sldId id="1443" r:id="rId13"/>
    <p:sldId id="1459" r:id="rId14"/>
    <p:sldId id="1453"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arles D" initials="CD" lastIdx="14" clrIdx="0">
    <p:extLst>
      <p:ext uri="{19B8F6BF-5375-455C-9EA6-DF929625EA0E}">
        <p15:presenceInfo xmlns:p15="http://schemas.microsoft.com/office/powerpoint/2012/main" userId="7aa6f9c3fd0ddac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3366FF"/>
    <a:srgbClr val="ED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368" autoAdjust="0"/>
    <p:restoredTop sz="94660"/>
  </p:normalViewPr>
  <p:slideViewPr>
    <p:cSldViewPr snapToGrid="0">
      <p:cViewPr varScale="1">
        <p:scale>
          <a:sx n="109" d="100"/>
          <a:sy n="109" d="100"/>
        </p:scale>
        <p:origin x="216" y="6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08-03T23:06:39.012" idx="14">
    <p:pos x="10" y="10"/>
    <p:text>Here Iam</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Master" Target="../slideMasters/slideMaster1.xml"/><Relationship Id="rId4"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pic>
        <p:nvPicPr>
          <p:cNvPr id="2050" name="Picture 2"/>
          <p:cNvPicPr>
            <a:picLocks noChangeAspect="1"/>
          </p:cNvPicPr>
          <p:nvPr/>
        </p:nvPicPr>
        <p:blipFill>
          <a:blip r:embed="rId2"/>
          <a:srcRect b="3795"/>
          <a:stretch>
            <a:fillRect/>
          </a:stretch>
        </p:blipFill>
        <p:spPr>
          <a:xfrm>
            <a:off x="0" y="260350"/>
            <a:ext cx="12192000" cy="6597650"/>
          </a:xfrm>
          <a:prstGeom prst="rect">
            <a:avLst/>
          </a:prstGeom>
          <a:noFill/>
          <a:ln w="9525">
            <a:noFill/>
          </a:ln>
        </p:spPr>
      </p:pic>
      <p:sp>
        <p:nvSpPr>
          <p:cNvPr id="2051" name="Rectangle 3"/>
          <p:cNvSpPr>
            <a:spLocks noGrp="1" noChangeArrowheads="1"/>
          </p:cNvSpPr>
          <p:nvPr>
            <p:ph type="ctrTitle"/>
          </p:nvPr>
        </p:nvSpPr>
        <p:spPr>
          <a:xfrm>
            <a:off x="624417" y="620713"/>
            <a:ext cx="10943167" cy="1082675"/>
          </a:xfrm>
        </p:spPr>
        <p:txBody>
          <a:bodyPr/>
          <a:lstStyle>
            <a:lvl1pPr>
              <a:defRPr/>
            </a:lvl1pPr>
          </a:lstStyle>
          <a:p>
            <a:pPr lvl="0"/>
            <a:r>
              <a:rPr lang="en-US" altLang="zh-CN" noProof="0"/>
              <a:t>Click to edit Master title style</a:t>
            </a:r>
          </a:p>
        </p:txBody>
      </p:sp>
      <p:sp>
        <p:nvSpPr>
          <p:cNvPr id="2052" name="Rectangle 4"/>
          <p:cNvSpPr>
            <a:spLocks noGrp="1" noChangeArrowheads="1"/>
          </p:cNvSpPr>
          <p:nvPr>
            <p:ph type="subTitle" idx="1"/>
          </p:nvPr>
        </p:nvSpPr>
        <p:spPr>
          <a:xfrm>
            <a:off x="626533" y="1843088"/>
            <a:ext cx="10949517" cy="981075"/>
          </a:xfrm>
        </p:spPr>
        <p:txBody>
          <a:bodyPr/>
          <a:lstStyle>
            <a:lvl1pPr marL="0" indent="0">
              <a:buFontTx/>
              <a:buNone/>
              <a:defRPr/>
            </a:lvl1pPr>
          </a:lstStyle>
          <a:p>
            <a:pPr lvl="0"/>
            <a:r>
              <a:rPr lang="en-US" altLang="zh-CN" noProof="0"/>
              <a:t>Click to edit Master subtitle style</a:t>
            </a:r>
          </a:p>
        </p:txBody>
      </p:sp>
      <p:sp>
        <p:nvSpPr>
          <p:cNvPr id="9" name="Rectangle 5"/>
          <p:cNvSpPr>
            <a:spLocks noGrp="1" noChangeArrowheads="1"/>
          </p:cNvSpPr>
          <p:nvPr>
            <p:ph type="dt" sz="half" idx="2"/>
          </p:nvPr>
        </p:nvSpPr>
        <p:spPr bwMode="auto">
          <a:xfrm>
            <a:off x="609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63A1C593-65D0-4073-BCC9-577B9352EA97}" type="datetimeFigureOut">
              <a:rPr lang="en-US" smtClean="0"/>
              <a:t>2/11/26</a:t>
            </a:fld>
            <a:endParaRPr lang="en-US"/>
          </a:p>
        </p:txBody>
      </p:sp>
      <p:sp>
        <p:nvSpPr>
          <p:cNvPr id="10" name="Rectangle 6"/>
          <p:cNvSpPr>
            <a:spLocks noGrp="1" noChangeArrowheads="1"/>
          </p:cNvSpPr>
          <p:nvPr>
            <p:ph type="ftr" sz="quarter" idx="3"/>
          </p:nvPr>
        </p:nvSpPr>
        <p:spPr bwMode="auto">
          <a:xfrm>
            <a:off x="4165600" y="6245225"/>
            <a:ext cx="3860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endParaRPr lang="en-US"/>
          </a:p>
        </p:txBody>
      </p:sp>
      <p:sp>
        <p:nvSpPr>
          <p:cNvPr id="11" name="Rectangle 7"/>
          <p:cNvSpPr>
            <a:spLocks noGrp="1" noChangeArrowheads="1"/>
          </p:cNvSpPr>
          <p:nvPr>
            <p:ph type="sldNum" sz="quarter" idx="4"/>
          </p:nvPr>
        </p:nvSpPr>
        <p:spPr bwMode="auto">
          <a:xfrm>
            <a:off x="8737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9B618960-8005-486C-9A75-10CB2AAC16F9}" type="slidenum">
              <a:rPr lang="en-US" smtClean="0"/>
              <a:t>‹#›</a:t>
            </a:fld>
            <a:endParaRPr 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3"/>
            <a:ext cx="105156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40317"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40317" y="2505075"/>
            <a:ext cx="51583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71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2/11/26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2/11/26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717" y="987425"/>
            <a:ext cx="6172200" cy="4873625"/>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100000"/>
              </a:lnSpc>
              <a:spcBef>
                <a:spcPct val="20000"/>
              </a:spcBef>
              <a:spcAft>
                <a:spcPct val="0"/>
              </a:spcAft>
              <a:buClrTx/>
              <a:buSzTx/>
              <a:buFontTx/>
              <a:buNone/>
              <a:defRPr/>
            </a:pPr>
            <a:endParaRPr kumimoji="0" 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90500"/>
            <a:ext cx="2743200" cy="59372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90500"/>
            <a:ext cx="8026400" cy="59372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1"/>
            </p:custDataLst>
          </p:nvPr>
        </p:nvSpPr>
        <p:spPr/>
        <p:txBody>
          <a:bodyPr wrap="square" lIns="0" tIns="0" rIns="0" bIns="0">
            <a:normAutofit/>
          </a:bodyPr>
          <a:lstStyle>
            <a:lvl1pPr algn="l" fontAlgn="base">
              <a:defRPr sz="3200">
                <a:solidFill>
                  <a:schemeClr val="tx1">
                    <a:lumMod val="85000"/>
                    <a:lumOff val="15000"/>
                  </a:schemeClr>
                </a:solidFill>
                <a:latin typeface="Arial" panose="020B0604020202020204" pitchFamily="34" charset="0"/>
                <a:sym typeface="Arial" panose="020B0604020202020204" pitchFamily="34" charset="0"/>
              </a:defRPr>
            </a:lvl1pPr>
          </a:lstStyle>
          <a:p>
            <a:r>
              <a:rPr lang="en-US"/>
              <a:t>Click to add title</a:t>
            </a:r>
          </a:p>
        </p:txBody>
      </p:sp>
      <p:sp>
        <p:nvSpPr>
          <p:cNvPr id="3" name="日期占位符 2"/>
          <p:cNvSpPr>
            <a:spLocks noGrp="1"/>
          </p:cNvSpPr>
          <p:nvPr>
            <p:ph type="dt" sz="half" idx="10"/>
            <p:custDataLst>
              <p:tags r:id="rId2"/>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r>
              <a:rPr lang="en-US"/>
              <a:t>Date Area</a:t>
            </a:r>
          </a:p>
        </p:txBody>
      </p:sp>
      <p:sp>
        <p:nvSpPr>
          <p:cNvPr id="4" name="页脚占位符 3"/>
          <p:cNvSpPr>
            <a:spLocks noGrp="1"/>
          </p:cNvSpPr>
          <p:nvPr>
            <p:ph type="ftr" sz="quarter" idx="11"/>
            <p:custDataLst>
              <p:tags r:id="rId3"/>
            </p:custDataLst>
          </p:nvPr>
        </p:nvSpPr>
        <p:spPr/>
        <p:txBody>
          <a:bodyPr/>
          <a:lstStyle>
            <a:lvl1pPr>
              <a:defRPr>
                <a:latin typeface="Arial" panose="020B0604020202020204" pitchFamily="34" charset="0"/>
                <a:sym typeface="Arial" panose="020B0604020202020204" pitchFamily="34" charset="0"/>
              </a:defRPr>
            </a:lvl1pPr>
          </a:lstStyle>
          <a:p>
            <a:endParaRPr lang="en-US" dirty="0"/>
          </a:p>
        </p:txBody>
      </p:sp>
      <p:sp>
        <p:nvSpPr>
          <p:cNvPr id="5" name="灯片编号占位符 4"/>
          <p:cNvSpPr>
            <a:spLocks noGrp="1"/>
          </p:cNvSpPr>
          <p:nvPr>
            <p:ph type="sldNum" sz="quarter" idx="12"/>
            <p:custDataLst>
              <p:tags r:id="rId4"/>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fld id="{49AE70B2-8BF9-45C0-BB95-33D1B9D3A854}"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p:cNvPicPr>
            <a:picLocks noChangeAspect="1"/>
          </p:cNvPicPr>
          <p:nvPr/>
        </p:nvPicPr>
        <p:blipFill>
          <a:blip r:embed="rId14"/>
          <a:stretch>
            <a:fillRect/>
          </a:stretch>
        </p:blipFill>
        <p:spPr>
          <a:xfrm>
            <a:off x="0" y="0"/>
            <a:ext cx="12192000" cy="6858000"/>
          </a:xfrm>
          <a:prstGeom prst="rect">
            <a:avLst/>
          </a:prstGeom>
          <a:noFill/>
          <a:ln w="9525">
            <a:noFill/>
          </a:ln>
        </p:spPr>
      </p:pic>
      <p:sp>
        <p:nvSpPr>
          <p:cNvPr id="1027" name="Rectangle 3"/>
          <p:cNvSpPr>
            <a:spLocks noGrp="1"/>
          </p:cNvSpPr>
          <p:nvPr>
            <p:ph type="title"/>
          </p:nvPr>
        </p:nvSpPr>
        <p:spPr>
          <a:xfrm>
            <a:off x="609600" y="190500"/>
            <a:ext cx="10972800" cy="582613"/>
          </a:xfrm>
          <a:prstGeom prst="rect">
            <a:avLst/>
          </a:prstGeom>
          <a:noFill/>
          <a:ln w="9525">
            <a:noFill/>
          </a:ln>
        </p:spPr>
        <p:txBody>
          <a:bodyPr anchor="ctr" anchorCtr="0"/>
          <a:lstStyle/>
          <a:p>
            <a:pPr lvl="0"/>
            <a:r>
              <a:rPr lang="en-US" altLang="zh-CN" dirty="0"/>
              <a:t>Click to edit Master title style</a:t>
            </a:r>
          </a:p>
        </p:txBody>
      </p:sp>
      <p:sp>
        <p:nvSpPr>
          <p:cNvPr id="1028" name="Rectangle 4"/>
          <p:cNvSpPr>
            <a:spLocks noGrp="1"/>
          </p:cNvSpPr>
          <p:nvPr>
            <p:ph type="body" idx="1"/>
          </p:nvPr>
        </p:nvSpPr>
        <p:spPr>
          <a:xfrm>
            <a:off x="609600" y="1174750"/>
            <a:ext cx="10972800" cy="4953000"/>
          </a:xfrm>
          <a:prstGeom prst="rect">
            <a:avLst/>
          </a:prstGeom>
          <a:noFill/>
          <a:ln w="9525">
            <a:noFill/>
          </a:ln>
        </p:spPr>
        <p:txBody>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p>
        </p:txBody>
      </p:sp>
      <p:sp>
        <p:nvSpPr>
          <p:cNvPr id="1029" name="Rectangle 5"/>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400"/>
            </a:lvl1pPr>
          </a:lstStyle>
          <a:p>
            <a:fld id="{63A1C593-65D0-4073-BCC9-577B9352EA97}" type="datetimeFigureOut">
              <a:rPr lang="en-US" smtClean="0"/>
              <a:t>2/11/26</a:t>
            </a:fld>
            <a:endParaRPr lang="en-US"/>
          </a:p>
        </p:txBody>
      </p:sp>
      <p:sp>
        <p:nvSpPr>
          <p:cNvPr id="1030" name="Rectangle 6"/>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a:defRPr sz="1400"/>
            </a:lvl1pPr>
          </a:lstStyle>
          <a:p>
            <a:endParaRPr lang="en-US"/>
          </a:p>
        </p:txBody>
      </p:sp>
      <p:sp>
        <p:nvSpPr>
          <p:cNvPr id="1031" name="Rectangle 7"/>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400"/>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rtl="0" fontAlgn="base">
        <a:spcBef>
          <a:spcPct val="0"/>
        </a:spcBef>
        <a:spcAft>
          <a:spcPct val="0"/>
        </a:spcAft>
        <a:defRPr sz="3600" kern="1200">
          <a:solidFill>
            <a:schemeClr val="tx1"/>
          </a:solidFill>
          <a:latin typeface="+mj-lt"/>
          <a:ea typeface="+mj-ea"/>
          <a:cs typeface="+mj-cs"/>
        </a:defRPr>
      </a:lvl1pPr>
      <a:lvl2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2pPr>
      <a:lvl3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3pPr>
      <a:lvl4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4pPr>
      <a:lvl5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5pPr>
      <a:lvl6pPr marL="4572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6pPr>
      <a:lvl7pPr marL="9144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7pPr>
      <a:lvl8pPr marL="13716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8pPr>
      <a:lvl9pPr marL="18288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7AMpwghyjwg&amp;list=RD7AMpwghyjwg&amp;start_radio=1" TargetMode="External"/><Relationship Id="rId2" Type="http://schemas.openxmlformats.org/officeDocument/2006/relationships/hyperlink" Target="https://www.youtube.com/watch?v=frwpuMEVA5k" TargetMode="External"/><Relationship Id="rId1" Type="http://schemas.openxmlformats.org/officeDocument/2006/relationships/slideLayout" Target="../slideLayouts/slideLayout4.xml"/><Relationship Id="rId4" Type="http://schemas.openxmlformats.org/officeDocument/2006/relationships/hyperlink" Target="https://www.youtube.com/watch?v=BDEnbL0FOUs&amp;list=RDBDEnbL0FOUs&amp;start_radio=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968933" y="264000"/>
            <a:ext cx="5081997" cy="4166870"/>
          </a:xfrm>
        </p:spPr>
        <p:txBody>
          <a:bodyPr/>
          <a:lstStyle/>
          <a:p>
            <a:pPr algn="ctr"/>
            <a:r>
              <a:rPr lang="en-US" altLang="zh-CN" sz="4600" b="1" dirty="0">
                <a:solidFill>
                  <a:srgbClr val="FF0000"/>
                </a:solidFill>
                <a:latin typeface="DFKai-SB" panose="03000509000000000000" pitchFamily="65" charset="-120"/>
                <a:ea typeface="DFKai-SB" panose="03000509000000000000" pitchFamily="65" charset="-120"/>
              </a:rPr>
              <a:t>Esther </a:t>
            </a:r>
            <a:r>
              <a:rPr lang="en-US" altLang="ja-JP" sz="4600" b="1" dirty="0">
                <a:solidFill>
                  <a:srgbClr val="FF0000"/>
                </a:solidFill>
                <a:latin typeface="DFKai-SB" panose="03000509000000000000" pitchFamily="65" charset="-120"/>
                <a:ea typeface="DFKai-SB" panose="03000509000000000000" pitchFamily="65" charset="-120"/>
              </a:rPr>
              <a:t>(</a:t>
            </a:r>
            <a:r>
              <a:rPr lang="ja-JP" altLang="en-US" sz="4600" b="1">
                <a:solidFill>
                  <a:srgbClr val="FF0000"/>
                </a:solidFill>
                <a:latin typeface="DFKai-SB" panose="03000509000000000000" pitchFamily="65" charset="-120"/>
                <a:ea typeface="DFKai-SB" panose="03000509000000000000" pitchFamily="65" charset="-120"/>
              </a:rPr>
              <a:t>以斯帖</a:t>
            </a:r>
            <a:r>
              <a:rPr lang="en-US" altLang="ja-JP" sz="4600" b="1" dirty="0">
                <a:solidFill>
                  <a:srgbClr val="FF0000"/>
                </a:solidFill>
                <a:latin typeface="DFKai-SB" panose="03000509000000000000" pitchFamily="65" charset="-120"/>
                <a:ea typeface="DFKai-SB" panose="03000509000000000000" pitchFamily="65" charset="-120"/>
              </a:rPr>
              <a:t>)</a:t>
            </a:r>
            <a:br>
              <a:rPr lang="en-US" altLang="ja-JP" sz="4600" b="1" dirty="0">
                <a:solidFill>
                  <a:srgbClr val="FF0000"/>
                </a:solidFill>
                <a:latin typeface="DFKai-SB" panose="03000509000000000000" pitchFamily="65" charset="-120"/>
                <a:ea typeface="DFKai-SB" panose="03000509000000000000" pitchFamily="65" charset="-120"/>
              </a:rPr>
            </a:br>
            <a:r>
              <a:rPr lang="en-US" altLang="ja-JP" sz="4600" b="1" dirty="0">
                <a:solidFill>
                  <a:srgbClr val="FF0000"/>
                </a:solidFill>
                <a:latin typeface="DFKai-SB" panose="03000509000000000000" pitchFamily="65" charset="-120"/>
                <a:ea typeface="DFKai-SB" panose="03000509000000000000" pitchFamily="65" charset="-120"/>
              </a:rPr>
              <a:t>Chapter</a:t>
            </a:r>
            <a:r>
              <a:rPr lang="en-US" altLang="zh-CN" sz="4600" b="1" dirty="0">
                <a:solidFill>
                  <a:srgbClr val="FF0000"/>
                </a:solidFill>
                <a:latin typeface="DFKai-SB" panose="03000509000000000000" pitchFamily="65" charset="-120"/>
                <a:ea typeface="DFKai-SB" panose="03000509000000000000" pitchFamily="65" charset="-120"/>
              </a:rPr>
              <a:t> 2</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r>
              <a:rPr lang="en-US" sz="3200" b="1" dirty="0">
                <a:solidFill>
                  <a:srgbClr val="3366FF"/>
                </a:solidFill>
              </a:rPr>
              <a:t>Book of Esther </a:t>
            </a:r>
            <a:br>
              <a:rPr lang="en-US" sz="3200" b="1" dirty="0">
                <a:solidFill>
                  <a:srgbClr val="3366FF"/>
                </a:solidFill>
              </a:rPr>
            </a:br>
            <a:r>
              <a:rPr lang="en-US" sz="3200" b="1" dirty="0">
                <a:solidFill>
                  <a:srgbClr val="3366FF"/>
                </a:solidFill>
              </a:rPr>
              <a:t>and </a:t>
            </a:r>
            <a:br>
              <a:rPr lang="en-US" sz="3200" b="1" dirty="0">
                <a:solidFill>
                  <a:srgbClr val="3366FF"/>
                </a:solidFill>
              </a:rPr>
            </a:br>
            <a:r>
              <a:rPr lang="en-US" sz="3200" b="1" dirty="0">
                <a:solidFill>
                  <a:srgbClr val="3366FF"/>
                </a:solidFill>
              </a:rPr>
              <a:t>Parenting in Adversity</a:t>
            </a:r>
            <a:br>
              <a:rPr lang="en-US" sz="3200" b="1" dirty="0">
                <a:solidFill>
                  <a:srgbClr val="3366FF"/>
                </a:solidFill>
              </a:rPr>
            </a:br>
            <a:r>
              <a:rPr lang="zh-CN" altLang="en-US" sz="4800" b="1" dirty="0">
                <a:latin typeface="DFKai-SB" panose="03000509000000000000" pitchFamily="65" charset="-120"/>
                <a:ea typeface="DFKai-SB" panose="03000509000000000000" pitchFamily="65" charset="-120"/>
                <a:sym typeface="+mn-ea"/>
              </a:rPr>
              <a:t>逆境中教养孩子</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endParaRPr lang="zh-CN" altLang="en-US" sz="4600" b="1" dirty="0">
              <a:solidFill>
                <a:srgbClr val="FF0000"/>
              </a:solidFill>
              <a:latin typeface="DFKai-SB" panose="03000509000000000000" pitchFamily="65" charset="-120"/>
              <a:ea typeface="DFKai-SB" panose="03000509000000000000" pitchFamily="65" charset="-120"/>
            </a:endParaRPr>
          </a:p>
        </p:txBody>
      </p:sp>
      <p:sp>
        <p:nvSpPr>
          <p:cNvPr id="3" name="Subtitle 2"/>
          <p:cNvSpPr>
            <a:spLocks noGrp="1"/>
          </p:cNvSpPr>
          <p:nvPr>
            <p:ph type="subTitle" idx="1"/>
          </p:nvPr>
        </p:nvSpPr>
        <p:spPr>
          <a:xfrm>
            <a:off x="7316788" y="4637405"/>
            <a:ext cx="4178935" cy="2220595"/>
          </a:xfrm>
          <a:scene3d>
            <a:camera prst="obliqueTopRight"/>
            <a:lightRig rig="threePt" dir="t"/>
          </a:scene3d>
        </p:spPr>
        <p:txBody>
          <a:bodyPr>
            <a:scene3d>
              <a:camera prst="isometricTopUp"/>
              <a:lightRig rig="threePt" dir="t"/>
            </a:scene3d>
          </a:bodyPr>
          <a:lstStyle/>
          <a:p>
            <a:pPr algn="ctr"/>
            <a:r>
              <a:rPr lang="zh-CN" altLang="en-US" sz="4400" b="1" dirty="0">
                <a:solidFill>
                  <a:srgbClr val="FFC000"/>
                </a:solidFill>
                <a:latin typeface="DFKai-SB" panose="03000509000000000000" pitchFamily="65" charset="-120"/>
                <a:ea typeface="DFKai-SB" panose="03000509000000000000" pitchFamily="65" charset="-120"/>
                <a:sym typeface="+mn-ea"/>
              </a:rPr>
              <a:t>親子靈修</a:t>
            </a:r>
            <a:br>
              <a:rPr lang="zh-CN" altLang="en-US" sz="4400" b="1" dirty="0">
                <a:solidFill>
                  <a:srgbClr val="FFC000"/>
                </a:solidFill>
                <a:latin typeface="DFKai-SB" panose="03000509000000000000" pitchFamily="65" charset="-120"/>
                <a:ea typeface="DFKai-SB" panose="03000509000000000000" pitchFamily="65" charset="-120"/>
                <a:sym typeface="+mn-ea"/>
              </a:rPr>
            </a:br>
            <a:r>
              <a:rPr lang="en-US" altLang="zh-CN" sz="4400" b="1" dirty="0">
                <a:solidFill>
                  <a:srgbClr val="FFC000"/>
                </a:solidFill>
                <a:latin typeface="DFKai-SB" panose="03000509000000000000" pitchFamily="65" charset="-120"/>
                <a:ea typeface="DFKai-SB" panose="03000509000000000000" pitchFamily="65" charset="-120"/>
                <a:sym typeface="+mn-ea"/>
              </a:rPr>
              <a:t>William</a:t>
            </a:r>
            <a:r>
              <a:rPr lang="zh-CN" altLang="en-US" sz="4400" b="1" dirty="0">
                <a:solidFill>
                  <a:srgbClr val="FFC000"/>
                </a:solidFill>
                <a:latin typeface="DFKai-SB" panose="03000509000000000000" pitchFamily="65" charset="-120"/>
                <a:ea typeface="DFKai-SB" panose="03000509000000000000" pitchFamily="65" charset="-120"/>
                <a:sym typeface="+mn-ea"/>
              </a:rPr>
              <a:t>分享</a:t>
            </a:r>
            <a:endParaRPr lang="en-US" sz="4400" b="1" dirty="0">
              <a:solidFill>
                <a:srgbClr val="FFC000"/>
              </a:solidFill>
              <a:latin typeface="DFKai-SB" panose="03000509000000000000" pitchFamily="65" charset="-120"/>
              <a:ea typeface="DFKai-SB" panose="03000509000000000000" pitchFamily="65" charset="-120"/>
            </a:endParaRPr>
          </a:p>
          <a:p>
            <a:pPr algn="ctr"/>
            <a:r>
              <a:rPr lang="en-US" sz="4400" b="1" dirty="0">
                <a:solidFill>
                  <a:srgbClr val="FFC000"/>
                </a:solidFill>
                <a:latin typeface="DFKai-SB" panose="03000509000000000000" pitchFamily="65" charset="-120"/>
                <a:ea typeface="DFKai-SB" panose="03000509000000000000" pitchFamily="65" charset="-120"/>
              </a:rPr>
              <a:t>08-01-2026</a:t>
            </a:r>
          </a:p>
        </p:txBody>
      </p:sp>
      <p:sp>
        <p:nvSpPr>
          <p:cNvPr id="8" name="Text Box 7"/>
          <p:cNvSpPr txBox="1"/>
          <p:nvPr/>
        </p:nvSpPr>
        <p:spPr>
          <a:xfrm>
            <a:off x="876300" y="2642235"/>
            <a:ext cx="4064000" cy="368300"/>
          </a:xfrm>
          <a:prstGeom prst="rect">
            <a:avLst/>
          </a:prstGeom>
          <a:noFill/>
        </p:spPr>
        <p:txBody>
          <a:bodyPr wrap="square" rtlCol="0">
            <a:spAutoFit/>
          </a:bodyPr>
          <a:lstStyle/>
          <a:p>
            <a:endParaRPr lang="en-US"/>
          </a:p>
        </p:txBody>
      </p:sp>
      <p:sp>
        <p:nvSpPr>
          <p:cNvPr id="4" name="Text Box 3"/>
          <p:cNvSpPr txBox="1"/>
          <p:nvPr/>
        </p:nvSpPr>
        <p:spPr>
          <a:xfrm>
            <a:off x="974431" y="4062570"/>
            <a:ext cx="5558984" cy="368300"/>
          </a:xfrm>
          <a:prstGeom prst="rect">
            <a:avLst/>
          </a:prstGeom>
          <a:noFill/>
        </p:spPr>
        <p:txBody>
          <a:bodyPr wrap="square" rtlCol="0" anchor="t">
            <a:noAutofit/>
          </a:bodyPr>
          <a:lstStyle/>
          <a:p>
            <a:pPr algn="ctr"/>
            <a:r>
              <a:rPr lang="en-US" altLang="en-US" dirty="0"/>
              <a:t>https://</a:t>
            </a:r>
            <a:r>
              <a:rPr lang="en-US" altLang="en-US" dirty="0" err="1"/>
              <a:t>www.youtube.com</a:t>
            </a:r>
            <a:r>
              <a:rPr lang="en-US" altLang="en-US" dirty="0"/>
              <a:t>/</a:t>
            </a:r>
            <a:r>
              <a:rPr lang="en-US" altLang="en-US" dirty="0" err="1"/>
              <a:t>watch?v</a:t>
            </a:r>
            <a:r>
              <a:rPr lang="en-US" altLang="en-US" dirty="0"/>
              <a:t>=oK3JOfPFuGw</a:t>
            </a:r>
          </a:p>
        </p:txBody>
      </p:sp>
      <p:pic>
        <p:nvPicPr>
          <p:cNvPr id="10" name="Picture 9">
            <a:extLst>
              <a:ext uri="{FF2B5EF4-FFF2-40B4-BE49-F238E27FC236}">
                <a16:creationId xmlns:a16="http://schemas.microsoft.com/office/drawing/2014/main" id="{53BDC425-8BD2-24FA-3091-8B01D831E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709" y="0"/>
            <a:ext cx="6920224" cy="39239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901576" y="5090788"/>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Who is Esther?</a:t>
            </a:r>
          </a:p>
        </p:txBody>
      </p:sp>
      <p:pic>
        <p:nvPicPr>
          <p:cNvPr id="3" name="Picture 2">
            <a:hlinkClick r:id="rId2"/>
            <a:extLst>
              <a:ext uri="{FF2B5EF4-FFF2-40B4-BE49-F238E27FC236}">
                <a16:creationId xmlns:a16="http://schemas.microsoft.com/office/drawing/2014/main" id="{41D961AB-22DD-0666-EA8C-CEDDDEAB56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541915"/>
            <a:ext cx="7772400" cy="4370054"/>
          </a:xfrm>
          <a:prstGeom prst="rect">
            <a:avLst/>
          </a:prstGeom>
        </p:spPr>
      </p:pic>
    </p:spTree>
    <p:extLst>
      <p:ext uri="{BB962C8B-B14F-4D97-AF65-F5344CB8AC3E}">
        <p14:creationId xmlns:p14="http://schemas.microsoft.com/office/powerpoint/2010/main" val="962262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Who is Esther?</a:t>
            </a:r>
            <a:r>
              <a:rPr lang="en-US" sz="2000" dirty="0"/>
              <a:t> a hopeless child and in a hopeless generation.</a:t>
            </a:r>
          </a:p>
        </p:txBody>
      </p:sp>
      <p:graphicFrame>
        <p:nvGraphicFramePr>
          <p:cNvPr id="4" name="Content Placeholder 3">
            <a:extLst>
              <a:ext uri="{FF2B5EF4-FFF2-40B4-BE49-F238E27FC236}">
                <a16:creationId xmlns:a16="http://schemas.microsoft.com/office/drawing/2014/main" id="{03F7F89D-AC45-684F-1D38-90608AAD91D5}"/>
              </a:ext>
            </a:extLst>
          </p:cNvPr>
          <p:cNvGraphicFramePr>
            <a:graphicFrameLocks noGrp="1"/>
          </p:cNvGraphicFramePr>
          <p:nvPr>
            <p:ph idx="1"/>
            <p:extLst>
              <p:ext uri="{D42A27DB-BD31-4B8C-83A1-F6EECF244321}">
                <p14:modId xmlns:p14="http://schemas.microsoft.com/office/powerpoint/2010/main" val="401501164"/>
              </p:ext>
            </p:extLst>
          </p:nvPr>
        </p:nvGraphicFramePr>
        <p:xfrm>
          <a:off x="433754" y="916842"/>
          <a:ext cx="10972797" cy="4846320"/>
        </p:xfrm>
        <a:graphic>
          <a:graphicData uri="http://schemas.openxmlformats.org/drawingml/2006/table">
            <a:tbl>
              <a:tblPr firstRow="1" bandRow="1">
                <a:tableStyleId>{5C22544A-7EE6-4342-B048-85BDC9FD1C3A}</a:tableStyleId>
              </a:tblPr>
              <a:tblGrid>
                <a:gridCol w="480646">
                  <a:extLst>
                    <a:ext uri="{9D8B030D-6E8A-4147-A177-3AD203B41FA5}">
                      <a16:colId xmlns:a16="http://schemas.microsoft.com/office/drawing/2014/main" val="2340441976"/>
                    </a:ext>
                  </a:extLst>
                </a:gridCol>
                <a:gridCol w="7596554">
                  <a:extLst>
                    <a:ext uri="{9D8B030D-6E8A-4147-A177-3AD203B41FA5}">
                      <a16:colId xmlns:a16="http://schemas.microsoft.com/office/drawing/2014/main" val="1943942"/>
                    </a:ext>
                  </a:extLst>
                </a:gridCol>
                <a:gridCol w="2895597">
                  <a:extLst>
                    <a:ext uri="{9D8B030D-6E8A-4147-A177-3AD203B41FA5}">
                      <a16:colId xmlns:a16="http://schemas.microsoft.com/office/drawing/2014/main" val="571946203"/>
                    </a:ext>
                  </a:extLst>
                </a:gridCol>
              </a:tblGrid>
              <a:tr h="370840">
                <a:tc>
                  <a:txBody>
                    <a:bodyPr/>
                    <a:lstStyle/>
                    <a:p>
                      <a:r>
                        <a:rPr lang="en-US" dirty="0"/>
                        <a:t>#</a:t>
                      </a:r>
                    </a:p>
                  </a:txBody>
                  <a:tcPr/>
                </a:tc>
                <a:tc>
                  <a:txBody>
                    <a:bodyPr/>
                    <a:lstStyle/>
                    <a:p>
                      <a:r>
                        <a:rPr lang="en-US" sz="2400" dirty="0"/>
                        <a:t>Who is Esther (</a:t>
                      </a:r>
                      <a:r>
                        <a:rPr lang="en-US" sz="2400" dirty="0" err="1"/>
                        <a:t>Hadasah</a:t>
                      </a:r>
                      <a:r>
                        <a:rPr lang="en-US" sz="2400" dirty="0"/>
                        <a:t>)</a:t>
                      </a:r>
                    </a:p>
                  </a:txBody>
                  <a:tcPr/>
                </a:tc>
                <a:tc>
                  <a:txBody>
                    <a:bodyPr/>
                    <a:lstStyle/>
                    <a:p>
                      <a:r>
                        <a:rPr lang="en-US" sz="2400" dirty="0"/>
                        <a:t>Position in </a:t>
                      </a:r>
                      <a:r>
                        <a:rPr lang="en-US" sz="2400" dirty="0" err="1"/>
                        <a:t>Sciety</a:t>
                      </a:r>
                      <a:endParaRPr lang="en-US" sz="2400" dirty="0"/>
                    </a:p>
                  </a:txBody>
                  <a:tcPr/>
                </a:tc>
                <a:extLst>
                  <a:ext uri="{0D108BD9-81ED-4DB2-BD59-A6C34878D82A}">
                    <a16:rowId xmlns:a16="http://schemas.microsoft.com/office/drawing/2014/main" val="427071646"/>
                  </a:ext>
                </a:extLst>
              </a:tr>
              <a:tr h="370840">
                <a:tc>
                  <a:txBody>
                    <a:bodyPr/>
                    <a:lstStyle/>
                    <a:p>
                      <a:r>
                        <a:rPr lang="en-US" dirty="0"/>
                        <a:t>1</a:t>
                      </a:r>
                    </a:p>
                  </a:txBody>
                  <a:tcPr/>
                </a:tc>
                <a:tc>
                  <a:txBody>
                    <a:bodyPr/>
                    <a:lstStyle/>
                    <a:p>
                      <a:r>
                        <a:rPr lang="en-US" sz="2400" dirty="0">
                          <a:latin typeface="Times New Roman" panose="02020603050405020304" pitchFamily="18" charset="0"/>
                          <a:cs typeface="Times New Roman" panose="02020603050405020304" pitchFamily="18" charset="0"/>
                        </a:rPr>
                        <a:t>A girl</a:t>
                      </a:r>
                    </a:p>
                  </a:txBody>
                  <a:tcPr/>
                </a:tc>
                <a:tc>
                  <a:txBody>
                    <a:bodyPr/>
                    <a:lstStyle/>
                    <a:p>
                      <a:r>
                        <a:rPr lang="en-US" sz="2400" dirty="0">
                          <a:latin typeface="Times New Roman" panose="02020603050405020304" pitchFamily="18" charset="0"/>
                          <a:cs typeface="Times New Roman" panose="02020603050405020304" pitchFamily="18" charset="0"/>
                        </a:rPr>
                        <a:t>Weak</a:t>
                      </a:r>
                    </a:p>
                  </a:txBody>
                  <a:tcPr/>
                </a:tc>
                <a:extLst>
                  <a:ext uri="{0D108BD9-81ED-4DB2-BD59-A6C34878D82A}">
                    <a16:rowId xmlns:a16="http://schemas.microsoft.com/office/drawing/2014/main" val="488174752"/>
                  </a:ext>
                </a:extLst>
              </a:tr>
              <a:tr h="370840">
                <a:tc>
                  <a:txBody>
                    <a:bodyPr/>
                    <a:lstStyle/>
                    <a:p>
                      <a:r>
                        <a:rPr lang="en-US" dirty="0"/>
                        <a:t>2</a:t>
                      </a:r>
                    </a:p>
                  </a:txBody>
                  <a:tcPr/>
                </a:tc>
                <a:tc>
                  <a:txBody>
                    <a:bodyPr/>
                    <a:lstStyle/>
                    <a:p>
                      <a:r>
                        <a:rPr lang="en-US" sz="2400" dirty="0">
                          <a:latin typeface="Times New Roman" panose="02020603050405020304" pitchFamily="18" charset="0"/>
                          <a:cs typeface="Times New Roman" panose="02020603050405020304" pitchFamily="18" charset="0"/>
                        </a:rPr>
                        <a:t>An orphan (her parents died when she was little)</a:t>
                      </a:r>
                    </a:p>
                  </a:txBody>
                  <a:tcPr/>
                </a:tc>
                <a:tc>
                  <a:txBody>
                    <a:bodyPr/>
                    <a:lstStyle/>
                    <a:p>
                      <a:r>
                        <a:rPr lang="en-US" sz="2400" dirty="0">
                          <a:latin typeface="Times New Roman" panose="02020603050405020304" pitchFamily="18" charset="0"/>
                          <a:cs typeface="Times New Roman" panose="02020603050405020304" pitchFamily="18" charset="0"/>
                        </a:rPr>
                        <a:t>Humiliated</a:t>
                      </a:r>
                    </a:p>
                  </a:txBody>
                  <a:tcPr/>
                </a:tc>
                <a:extLst>
                  <a:ext uri="{0D108BD9-81ED-4DB2-BD59-A6C34878D82A}">
                    <a16:rowId xmlns:a16="http://schemas.microsoft.com/office/drawing/2014/main" val="2680651709"/>
                  </a:ext>
                </a:extLst>
              </a:tr>
              <a:tr h="370840">
                <a:tc>
                  <a:txBody>
                    <a:bodyPr/>
                    <a:lstStyle/>
                    <a:p>
                      <a:r>
                        <a:rPr lang="en-US"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1B1B1B"/>
                          </a:solidFill>
                          <a:latin typeface="Times New Roman" panose="02020603050405020304" pitchFamily="18" charset="0"/>
                          <a:cs typeface="Times New Roman" panose="02020603050405020304" pitchFamily="18" charset="0"/>
                        </a:rPr>
                        <a:t>An immigrant (exiled from Jerusalem to Persia)</a:t>
                      </a:r>
                    </a:p>
                  </a:txBody>
                  <a:tcPr/>
                </a:tc>
                <a:tc>
                  <a:txBody>
                    <a:bodyPr/>
                    <a:lstStyle/>
                    <a:p>
                      <a:r>
                        <a:rPr lang="en-US" sz="2400" dirty="0">
                          <a:latin typeface="Times New Roman" panose="02020603050405020304" pitchFamily="18" charset="0"/>
                          <a:cs typeface="Times New Roman" panose="02020603050405020304" pitchFamily="18" charset="0"/>
                        </a:rPr>
                        <a:t>Lowest in society</a:t>
                      </a:r>
                    </a:p>
                  </a:txBody>
                  <a:tcPr/>
                </a:tc>
                <a:extLst>
                  <a:ext uri="{0D108BD9-81ED-4DB2-BD59-A6C34878D82A}">
                    <a16:rowId xmlns:a16="http://schemas.microsoft.com/office/drawing/2014/main" val="2293154587"/>
                  </a:ext>
                </a:extLst>
              </a:tr>
              <a:tr h="370840">
                <a:tc>
                  <a:txBody>
                    <a:bodyPr/>
                    <a:lstStyle/>
                    <a:p>
                      <a:r>
                        <a:rPr lang="en-US"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1B1B1B"/>
                          </a:solidFill>
                          <a:latin typeface="Times New Roman" panose="02020603050405020304" pitchFamily="18" charset="0"/>
                          <a:cs typeface="Times New Roman" panose="02020603050405020304" pitchFamily="18" charset="0"/>
                        </a:rPr>
                        <a:t>An offspring of Benjaminite. A tribe of declined Israelites</a:t>
                      </a:r>
                    </a:p>
                  </a:txBody>
                  <a:tcPr/>
                </a:tc>
                <a:tc>
                  <a:txBody>
                    <a:bodyPr/>
                    <a:lstStyle/>
                    <a:p>
                      <a:r>
                        <a:rPr lang="en-US" sz="2400" dirty="0">
                          <a:latin typeface="Times New Roman" panose="02020603050405020304" pitchFamily="18" charset="0"/>
                          <a:cs typeface="Times New Roman" panose="02020603050405020304" pitchFamily="18" charset="0"/>
                        </a:rPr>
                        <a:t>A declined race </a:t>
                      </a:r>
                    </a:p>
                  </a:txBody>
                  <a:tcPr/>
                </a:tc>
                <a:extLst>
                  <a:ext uri="{0D108BD9-81ED-4DB2-BD59-A6C34878D82A}">
                    <a16:rowId xmlns:a16="http://schemas.microsoft.com/office/drawing/2014/main" val="2376288802"/>
                  </a:ext>
                </a:extLst>
              </a:tr>
              <a:tr h="370840">
                <a:tc>
                  <a:txBody>
                    <a:bodyPr/>
                    <a:lstStyle/>
                    <a:p>
                      <a:r>
                        <a:rPr lang="en-US" dirty="0"/>
                        <a:t>5</a:t>
                      </a:r>
                    </a:p>
                  </a:txBody>
                  <a:tcPr/>
                </a:tc>
                <a:tc>
                  <a:txBody>
                    <a:bodyPr/>
                    <a:lstStyle/>
                    <a:p>
                      <a:r>
                        <a:rPr lang="en-US" sz="2400" dirty="0">
                          <a:latin typeface="Times New Roman" panose="02020603050405020304" pitchFamily="18" charset="0"/>
                          <a:cs typeface="Times New Roman" panose="02020603050405020304" pitchFamily="18" charset="0"/>
                        </a:rPr>
                        <a:t>Raised by uncle Mordecai (estimated about 80 </a:t>
                      </a:r>
                      <a:r>
                        <a:rPr lang="en-US" sz="2400" dirty="0" err="1">
                          <a:latin typeface="Times New Roman" panose="02020603050405020304" pitchFamily="18" charset="0"/>
                          <a:cs typeface="Times New Roman" panose="02020603050405020304" pitchFamily="18" charset="0"/>
                        </a:rPr>
                        <a:t>yrs</a:t>
                      </a:r>
                      <a:r>
                        <a:rPr lang="en-US" sz="2400" dirty="0">
                          <a:latin typeface="Times New Roman" panose="02020603050405020304" pitchFamily="18" charset="0"/>
                          <a:cs typeface="Times New Roman" panose="02020603050405020304" pitchFamily="18" charset="0"/>
                        </a:rPr>
                        <a:t> old)</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"who had been carried into exile from Jerusalem by Nebuchadnezzar king of Babylon, among those taken captive with Jehoiachin king of Judah." (Est2:6 NIV)</a:t>
                      </a:r>
                      <a:br>
                        <a:rPr lang="en-US" sz="2400" dirty="0">
                          <a:latin typeface="Times New Roman" panose="02020603050405020304" pitchFamily="18" charset="0"/>
                          <a:cs typeface="Times New Roman" panose="02020603050405020304" pitchFamily="18" charset="0"/>
                        </a:rPr>
                      </a:br>
                      <a:r>
                        <a:rPr lang="en-US" altLang="ja-JP" sz="1800" dirty="0">
                          <a:latin typeface="Times New Roman" panose="02020603050405020304" pitchFamily="18" charset="0"/>
                          <a:cs typeface="Times New Roman" panose="02020603050405020304" pitchFamily="18" charset="0"/>
                        </a:rPr>
                        <a:t>"</a:t>
                      </a:r>
                      <a:r>
                        <a:rPr lang="ja-JP" altLang="en-US" sz="1800">
                          <a:latin typeface="Times New Roman" panose="02020603050405020304" pitchFamily="18" charset="0"/>
                          <a:cs typeface="Times New Roman" panose="02020603050405020304" pitchFamily="18" charset="0"/>
                        </a:rPr>
                        <a:t>从前巴比伦王尼布甲尼撒将犹大王耶哥尼雅（又名约雅斤）和百姓从耶路撒冷掳去、末底改也在其内。</a:t>
                      </a:r>
                      <a:r>
                        <a:rPr lang="en-US" altLang="ja-JP"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Est2:6 CUVS)</a:t>
                      </a:r>
                    </a:p>
                  </a:txBody>
                  <a:tcPr/>
                </a:tc>
                <a:tc>
                  <a:txBody>
                    <a:bodyPr/>
                    <a:lstStyle/>
                    <a:p>
                      <a:r>
                        <a:rPr lang="en-US" sz="2400" dirty="0">
                          <a:latin typeface="Times New Roman" panose="02020603050405020304" pitchFamily="18" charset="0"/>
                          <a:cs typeface="Times New Roman" panose="02020603050405020304" pitchFamily="18" charset="0"/>
                        </a:rPr>
                        <a:t>Unfamous family</a:t>
                      </a:r>
                    </a:p>
                  </a:txBody>
                  <a:tcPr/>
                </a:tc>
                <a:extLst>
                  <a:ext uri="{0D108BD9-81ED-4DB2-BD59-A6C34878D82A}">
                    <a16:rowId xmlns:a16="http://schemas.microsoft.com/office/drawing/2014/main" val="3813976560"/>
                  </a:ext>
                </a:extLst>
              </a:tr>
              <a:tr h="370840">
                <a:tc>
                  <a:txBody>
                    <a:bodyPr/>
                    <a:lstStyle/>
                    <a:p>
                      <a:r>
                        <a:rPr lang="en-US" dirty="0"/>
                        <a:t>6</a:t>
                      </a:r>
                    </a:p>
                  </a:txBody>
                  <a:tcPr/>
                </a:tc>
                <a:tc>
                  <a:txBody>
                    <a:bodyPr/>
                    <a:lstStyle/>
                    <a:p>
                      <a:r>
                        <a:rPr lang="en-US" sz="2400" dirty="0">
                          <a:latin typeface="Times New Roman" panose="02020603050405020304" pitchFamily="18" charset="0"/>
                          <a:cs typeface="Times New Roman" panose="02020603050405020304" pitchFamily="18" charset="0"/>
                        </a:rPr>
                        <a:t>Captured people (slavery or working class)</a:t>
                      </a:r>
                    </a:p>
                  </a:txBody>
                  <a:tcPr/>
                </a:tc>
                <a:tc>
                  <a:txBody>
                    <a:bodyPr/>
                    <a:lstStyle/>
                    <a:p>
                      <a:r>
                        <a:rPr lang="en-US" sz="2400" dirty="0">
                          <a:latin typeface="Times New Roman" panose="02020603050405020304" pitchFamily="18" charset="0"/>
                          <a:cs typeface="Times New Roman" panose="02020603050405020304" pitchFamily="18" charset="0"/>
                        </a:rPr>
                        <a:t>Loser</a:t>
                      </a:r>
                    </a:p>
                  </a:txBody>
                  <a:tcPr/>
                </a:tc>
                <a:extLst>
                  <a:ext uri="{0D108BD9-81ED-4DB2-BD59-A6C34878D82A}">
                    <a16:rowId xmlns:a16="http://schemas.microsoft.com/office/drawing/2014/main" val="1369729233"/>
                  </a:ext>
                </a:extLst>
              </a:tr>
            </a:tbl>
          </a:graphicData>
        </a:graphic>
      </p:graphicFrame>
    </p:spTree>
    <p:extLst>
      <p:ext uri="{BB962C8B-B14F-4D97-AF65-F5344CB8AC3E}">
        <p14:creationId xmlns:p14="http://schemas.microsoft.com/office/powerpoint/2010/main" val="3490536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How to raise a hopeless child in adversity?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pPr>
              <a:buFont typeface="Wingdings" pitchFamily="2" charset="2"/>
              <a:buChar char="q"/>
            </a:pPr>
            <a:r>
              <a:rPr lang="en-US" dirty="0"/>
              <a:t>Throw away the child</a:t>
            </a:r>
          </a:p>
          <a:p>
            <a:pPr>
              <a:buFont typeface="Wingdings" pitchFamily="2" charset="2"/>
              <a:buChar char="q"/>
            </a:pPr>
            <a:r>
              <a:rPr lang="en-US" dirty="0"/>
              <a:t>Send child to orphan organization</a:t>
            </a:r>
          </a:p>
          <a:p>
            <a:pPr>
              <a:buFont typeface="Wingdings" pitchFamily="2" charset="2"/>
              <a:buChar char="q"/>
            </a:pPr>
            <a:r>
              <a:rPr lang="en-US" dirty="0"/>
              <a:t>Dislike the child</a:t>
            </a:r>
          </a:p>
          <a:p>
            <a:pPr>
              <a:buFont typeface="Wingdings" pitchFamily="2" charset="2"/>
              <a:buChar char="q"/>
            </a:pPr>
            <a:r>
              <a:rPr lang="en-US" dirty="0"/>
              <a:t>Despise the child</a:t>
            </a:r>
          </a:p>
          <a:p>
            <a:pPr>
              <a:buFont typeface="Wingdings" pitchFamily="2" charset="2"/>
              <a:buChar char="q"/>
            </a:pPr>
            <a:r>
              <a:rPr lang="en-US" dirty="0"/>
              <a:t>Look down upon the child</a:t>
            </a:r>
          </a:p>
          <a:p>
            <a:pPr>
              <a:buFont typeface="Wingdings" pitchFamily="2" charset="2"/>
              <a:buChar char="q"/>
            </a:pPr>
            <a:r>
              <a:rPr lang="en-US" altLang="ja-JP" dirty="0"/>
              <a:t>Beat/maltreat child</a:t>
            </a:r>
          </a:p>
          <a:p>
            <a:pPr>
              <a:buFont typeface="Wingdings" pitchFamily="2" charset="2"/>
              <a:buChar char="q"/>
            </a:pPr>
            <a:r>
              <a:rPr lang="en-US" dirty="0"/>
              <a:t>Complain the child</a:t>
            </a:r>
          </a:p>
          <a:p>
            <a:pPr>
              <a:buFont typeface="Wingdings" pitchFamily="2" charset="2"/>
              <a:buChar char="q"/>
            </a:pPr>
            <a:r>
              <a:rPr lang="en-US" dirty="0"/>
              <a:t>…</a:t>
            </a:r>
          </a:p>
        </p:txBody>
      </p:sp>
    </p:spTree>
    <p:extLst>
      <p:ext uri="{BB962C8B-B14F-4D97-AF65-F5344CB8AC3E}">
        <p14:creationId xmlns:p14="http://schemas.microsoft.com/office/powerpoint/2010/main" val="893413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(1)</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Have a heart of the mercy of the God: adopt Esther as it is.</a:t>
            </a:r>
          </a:p>
          <a:p>
            <a:r>
              <a:rPr lang="en-US" dirty="0"/>
              <a:t>No complain to take over the parenting duty.</a:t>
            </a:r>
          </a:p>
          <a:p>
            <a:r>
              <a:rPr lang="en-US" dirty="0"/>
              <a:t>Be patient: hard working to raise child.</a:t>
            </a:r>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370644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(2)</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Never forget the God in heart in adversity.</a:t>
            </a:r>
          </a:p>
          <a:p>
            <a:r>
              <a:rPr lang="en-US" dirty="0"/>
              <a:t>Educate Esther to protect herself in adversity.</a:t>
            </a:r>
          </a:p>
          <a:p>
            <a:r>
              <a:rPr lang="en-US" altLang="ja-JP" dirty="0"/>
              <a:t>"Esther had not revealed her nationality and family background, because Mordecai had forbidden her to do so." (Est2:10 NIV)"</a:t>
            </a:r>
            <a:r>
              <a:rPr lang="ja-JP" altLang="en-US"/>
              <a:t>以斯帖未曾将籍贯宗族告诉人、因为末底改嘱咐他不可叫人知道。</a:t>
            </a:r>
            <a:r>
              <a:rPr lang="en-US" altLang="ja-JP" dirty="0"/>
              <a:t>" (</a:t>
            </a:r>
            <a:r>
              <a:rPr lang="en-US" dirty="0"/>
              <a:t>Est2:10 CUVS).</a:t>
            </a:r>
          </a:p>
          <a:p>
            <a:r>
              <a:rPr lang="en-US" dirty="0"/>
              <a:t>Sow a seed of God in her heart.</a:t>
            </a:r>
          </a:p>
          <a:p>
            <a:endParaRPr lang="en-US" dirty="0"/>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3231013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(3)</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Take care of Esther in the adversity.</a:t>
            </a:r>
          </a:p>
          <a:p>
            <a:r>
              <a:rPr lang="en-US" altLang="ja-JP" dirty="0"/>
              <a:t>"Every day he walked back and forth near the courtyard of the harem to find out how Esther was and what was happening to her." (Est2:11 NIV) "</a:t>
            </a:r>
            <a:r>
              <a:rPr lang="ja-JP" altLang="en-US"/>
              <a:t>末底改天天在女院前边行走、要知道以斯帖平安不平安、并后事如何。</a:t>
            </a:r>
            <a:r>
              <a:rPr lang="en-US" altLang="ja-JP" dirty="0"/>
              <a:t>" (</a:t>
            </a:r>
            <a:r>
              <a:rPr lang="en-US" dirty="0"/>
              <a:t>Est2:11 CUVS)</a:t>
            </a:r>
          </a:p>
          <a:p>
            <a:endParaRPr lang="en-US" dirty="0"/>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4665671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(4)</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Keep contact with Esther in the adversity.</a:t>
            </a:r>
          </a:p>
          <a:p>
            <a:r>
              <a:rPr lang="en-US" altLang="ja-JP" dirty="0"/>
              <a:t>Esther 2:21–23.</a:t>
            </a:r>
          </a:p>
          <a:p>
            <a:r>
              <a:rPr lang="en-US" dirty="0"/>
              <a:t>"But Mordecai found out about the plot and told Queen Esther, who in turn reported it to the king, giving credit to Mordecai." (Est2:22 NIV)</a:t>
            </a:r>
            <a:r>
              <a:rPr lang="ja-JP" altLang="en-US"/>
              <a:t> </a:t>
            </a:r>
            <a:r>
              <a:rPr lang="en-US" altLang="ja-JP" dirty="0"/>
              <a:t>"</a:t>
            </a:r>
            <a:r>
              <a:rPr lang="ja-JP" altLang="en-US"/>
              <a:t>末底改知道了、就告诉王后以斯帖．以斯帖奉末底改的名、报告于王．</a:t>
            </a:r>
            <a:r>
              <a:rPr lang="en-US" altLang="ja-JP" dirty="0"/>
              <a:t>" (</a:t>
            </a:r>
            <a:r>
              <a:rPr lang="en-US" dirty="0"/>
              <a:t>Est2:22 CUVS)</a:t>
            </a:r>
          </a:p>
          <a:p>
            <a:endParaRPr lang="en-US" dirty="0"/>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21404542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(5)</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843644"/>
            <a:ext cx="3540369" cy="3692769"/>
          </a:xfrm>
          <a:solidFill>
            <a:schemeClr val="bg1">
              <a:lumMod val="85000"/>
            </a:schemeClr>
          </a:solidFill>
          <a:ln>
            <a:solidFill>
              <a:schemeClr val="tx1"/>
            </a:solidFill>
          </a:ln>
        </p:spPr>
        <p:txBody>
          <a:bodyPr/>
          <a:lstStyle/>
          <a:p>
            <a:pPr marL="0" indent="0" algn="ctr">
              <a:buNone/>
            </a:pPr>
            <a:r>
              <a:rPr lang="en-US" u="sng" dirty="0"/>
              <a:t>Mordecai</a:t>
            </a:r>
          </a:p>
          <a:p>
            <a:r>
              <a:rPr lang="en-US" dirty="0"/>
              <a:t>Faithfulness</a:t>
            </a:r>
          </a:p>
          <a:p>
            <a:r>
              <a:rPr lang="en-US" dirty="0"/>
              <a:t>Endurance</a:t>
            </a:r>
          </a:p>
          <a:p>
            <a:r>
              <a:rPr lang="en-US" dirty="0"/>
              <a:t>Peacefulness</a:t>
            </a:r>
          </a:p>
          <a:p>
            <a:r>
              <a:rPr lang="en-US" dirty="0"/>
              <a:t>Hope</a:t>
            </a:r>
          </a:p>
          <a:p>
            <a:r>
              <a:rPr lang="en-US" dirty="0"/>
              <a:t>Love</a:t>
            </a:r>
          </a:p>
          <a:p>
            <a:endParaRPr lang="en-US" dirty="0"/>
          </a:p>
          <a:p>
            <a:endParaRPr lang="en-US" dirty="0"/>
          </a:p>
          <a:p>
            <a:pPr marL="0" indent="0">
              <a:buNone/>
            </a:pPr>
            <a:endParaRPr lang="en-US" dirty="0"/>
          </a:p>
          <a:p>
            <a:pPr marL="0" indent="0">
              <a:buNone/>
            </a:pPr>
            <a:endParaRPr lang="en-US" dirty="0"/>
          </a:p>
        </p:txBody>
      </p:sp>
      <p:sp>
        <p:nvSpPr>
          <p:cNvPr id="4" name="Content Placeholder 2">
            <a:extLst>
              <a:ext uri="{FF2B5EF4-FFF2-40B4-BE49-F238E27FC236}">
                <a16:creationId xmlns:a16="http://schemas.microsoft.com/office/drawing/2014/main" id="{8E676036-519F-3256-3E10-02933197433D}"/>
              </a:ext>
            </a:extLst>
          </p:cNvPr>
          <p:cNvSpPr txBox="1">
            <a:spLocks/>
          </p:cNvSpPr>
          <p:nvPr/>
        </p:nvSpPr>
        <p:spPr>
          <a:xfrm>
            <a:off x="7354453" y="1535724"/>
            <a:ext cx="4700952" cy="4000690"/>
          </a:xfrm>
          <a:prstGeom prst="rect">
            <a:avLst/>
          </a:prstGeom>
          <a:solidFill>
            <a:schemeClr val="accent1">
              <a:lumMod val="20000"/>
              <a:lumOff val="80000"/>
            </a:schemeClr>
          </a:solidFill>
          <a:ln w="9525">
            <a:solidFill>
              <a:schemeClr val="tx1"/>
            </a:solidFill>
          </a:ln>
        </p:spPr>
        <p:txBody>
          <a:bodyPr/>
          <a:lst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u="sng" dirty="0"/>
              <a:t>Esther</a:t>
            </a:r>
          </a:p>
          <a:p>
            <a:r>
              <a:rPr lang="en-US" dirty="0"/>
              <a:t>Beauty</a:t>
            </a:r>
          </a:p>
          <a:p>
            <a:r>
              <a:rPr lang="en-US" dirty="0"/>
              <a:t>Brave</a:t>
            </a:r>
          </a:p>
          <a:p>
            <a:r>
              <a:rPr lang="en-US" dirty="0"/>
              <a:t>Favored by King</a:t>
            </a:r>
          </a:p>
          <a:p>
            <a:r>
              <a:rPr lang="en-US" dirty="0"/>
              <a:t>Chosen in Divine Purpose</a:t>
            </a:r>
          </a:p>
          <a:p>
            <a:r>
              <a:rPr lang="en-US" dirty="0"/>
              <a:t>Fulfilled God’s Plan</a:t>
            </a:r>
          </a:p>
          <a:p>
            <a:endParaRPr lang="en-US" dirty="0"/>
          </a:p>
          <a:p>
            <a:pPr marL="0" indent="0">
              <a:buFontTx/>
              <a:buNone/>
            </a:pPr>
            <a:endParaRPr lang="en-US" dirty="0"/>
          </a:p>
          <a:p>
            <a:pPr marL="0" indent="0">
              <a:buFontTx/>
              <a:buNone/>
            </a:pPr>
            <a:endParaRPr lang="en-US" dirty="0"/>
          </a:p>
        </p:txBody>
      </p:sp>
      <p:sp>
        <p:nvSpPr>
          <p:cNvPr id="5" name="Right Arrow 4">
            <a:extLst>
              <a:ext uri="{FF2B5EF4-FFF2-40B4-BE49-F238E27FC236}">
                <a16:creationId xmlns:a16="http://schemas.microsoft.com/office/drawing/2014/main" id="{3D027392-E13D-93CF-00D3-482CC603720D}"/>
              </a:ext>
            </a:extLst>
          </p:cNvPr>
          <p:cNvSpPr/>
          <p:nvPr/>
        </p:nvSpPr>
        <p:spPr bwMode="auto">
          <a:xfrm>
            <a:off x="4274476" y="2912328"/>
            <a:ext cx="2955470" cy="1555400"/>
          </a:xfrm>
          <a:prstGeom prst="rightArrow">
            <a:avLst/>
          </a:pr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en-US" sz="4000" b="0" i="0" u="none" strike="noStrike" cap="none" normalizeH="0" baseline="0" dirty="0">
                <a:ln>
                  <a:noFill/>
                </a:ln>
                <a:solidFill>
                  <a:schemeClr val="tx1"/>
                </a:solidFill>
                <a:effectLst/>
                <a:latin typeface="Arial" panose="020B0604020202020204" pitchFamily="34" charset="0"/>
                <a:ea typeface="SimSun" panose="02010600030101010101" pitchFamily="2" charset="-122"/>
              </a:rPr>
              <a:t>Convert to</a:t>
            </a:r>
          </a:p>
        </p:txBody>
      </p:sp>
    </p:spTree>
    <p:extLst>
      <p:ext uri="{BB962C8B-B14F-4D97-AF65-F5344CB8AC3E}">
        <p14:creationId xmlns:p14="http://schemas.microsoft.com/office/powerpoint/2010/main" val="295072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Summary of Parenting Learning from Mordecai (6)</a:t>
            </a:r>
          </a:p>
        </p:txBody>
      </p:sp>
      <p:sp>
        <p:nvSpPr>
          <p:cNvPr id="5" name="Right Arrow 4">
            <a:extLst>
              <a:ext uri="{FF2B5EF4-FFF2-40B4-BE49-F238E27FC236}">
                <a16:creationId xmlns:a16="http://schemas.microsoft.com/office/drawing/2014/main" id="{3D027392-E13D-93CF-00D3-482CC603720D}"/>
              </a:ext>
            </a:extLst>
          </p:cNvPr>
          <p:cNvSpPr/>
          <p:nvPr/>
        </p:nvSpPr>
        <p:spPr bwMode="auto">
          <a:xfrm>
            <a:off x="4268981" y="2856400"/>
            <a:ext cx="2955470" cy="1555400"/>
          </a:xfrm>
          <a:prstGeom prst="rightArrow">
            <a:avLst/>
          </a:pr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en-US" sz="4000" b="0" i="0" u="none" strike="noStrike" cap="none" normalizeH="0" baseline="0" dirty="0">
                <a:ln>
                  <a:noFill/>
                </a:ln>
                <a:solidFill>
                  <a:schemeClr val="tx1"/>
                </a:solidFill>
                <a:effectLst/>
                <a:latin typeface="Arial" panose="020B0604020202020204" pitchFamily="34" charset="0"/>
                <a:ea typeface="SimSun" panose="02010600030101010101" pitchFamily="2" charset="-122"/>
              </a:rPr>
              <a:t>Leading to</a:t>
            </a:r>
          </a:p>
        </p:txBody>
      </p:sp>
      <p:sp>
        <p:nvSpPr>
          <p:cNvPr id="6" name="TextBox 5">
            <a:extLst>
              <a:ext uri="{FF2B5EF4-FFF2-40B4-BE49-F238E27FC236}">
                <a16:creationId xmlns:a16="http://schemas.microsoft.com/office/drawing/2014/main" id="{25A606D3-477C-3C34-1C0E-8C9EAA7DB77E}"/>
              </a:ext>
            </a:extLst>
          </p:cNvPr>
          <p:cNvSpPr txBox="1"/>
          <p:nvPr/>
        </p:nvSpPr>
        <p:spPr>
          <a:xfrm>
            <a:off x="760117" y="2402445"/>
            <a:ext cx="3004457" cy="2554545"/>
          </a:xfrm>
          <a:prstGeom prst="rect">
            <a:avLst/>
          </a:prstGeom>
          <a:solidFill>
            <a:schemeClr val="bg1">
              <a:lumMod val="85000"/>
            </a:schemeClr>
          </a:solidFill>
        </p:spPr>
        <p:txBody>
          <a:bodyPr wrap="square" rtlCol="0">
            <a:spAutoFit/>
          </a:bodyPr>
          <a:lstStyle/>
          <a:p>
            <a:pPr algn="ctr"/>
            <a:r>
              <a:rPr lang="en-US" sz="4000" dirty="0"/>
              <a:t>Successful</a:t>
            </a:r>
          </a:p>
          <a:p>
            <a:pPr algn="ctr"/>
            <a:r>
              <a:rPr lang="en-US" sz="4000" dirty="0"/>
              <a:t>Parenting</a:t>
            </a:r>
          </a:p>
          <a:p>
            <a:pPr algn="ctr"/>
            <a:r>
              <a:rPr lang="en-US" sz="4000" dirty="0"/>
              <a:t>is</a:t>
            </a:r>
          </a:p>
          <a:p>
            <a:pPr algn="ctr"/>
            <a:r>
              <a:rPr lang="en-US" sz="4000" dirty="0"/>
              <a:t>a Key</a:t>
            </a:r>
          </a:p>
        </p:txBody>
      </p:sp>
      <p:sp>
        <p:nvSpPr>
          <p:cNvPr id="7" name="TextBox 6">
            <a:extLst>
              <a:ext uri="{FF2B5EF4-FFF2-40B4-BE49-F238E27FC236}">
                <a16:creationId xmlns:a16="http://schemas.microsoft.com/office/drawing/2014/main" id="{F9E3DF31-DC21-B138-1FAA-097574C38284}"/>
              </a:ext>
            </a:extLst>
          </p:cNvPr>
          <p:cNvSpPr txBox="1"/>
          <p:nvPr/>
        </p:nvSpPr>
        <p:spPr>
          <a:xfrm>
            <a:off x="7588181" y="2710221"/>
            <a:ext cx="3004457" cy="1938992"/>
          </a:xfrm>
          <a:prstGeom prst="rect">
            <a:avLst/>
          </a:prstGeom>
          <a:solidFill>
            <a:schemeClr val="accent1">
              <a:lumMod val="20000"/>
              <a:lumOff val="80000"/>
            </a:schemeClr>
          </a:solidFill>
        </p:spPr>
        <p:txBody>
          <a:bodyPr wrap="square" rtlCol="0">
            <a:spAutoFit/>
          </a:bodyPr>
          <a:lstStyle/>
          <a:p>
            <a:pPr algn="ctr"/>
            <a:r>
              <a:rPr lang="en-US" sz="4000" dirty="0" err="1"/>
              <a:t>SuccessfulChildren</a:t>
            </a:r>
            <a:endParaRPr lang="en-US" sz="4000" dirty="0"/>
          </a:p>
          <a:p>
            <a:pPr algn="ctr"/>
            <a:r>
              <a:rPr lang="en-US" sz="4000" dirty="0"/>
              <a:t>of the God</a:t>
            </a:r>
          </a:p>
        </p:txBody>
      </p:sp>
    </p:spTree>
    <p:extLst>
      <p:ext uri="{BB962C8B-B14F-4D97-AF65-F5344CB8AC3E}">
        <p14:creationId xmlns:p14="http://schemas.microsoft.com/office/powerpoint/2010/main" val="2453157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God’s Reward</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b="0" i="0" dirty="0">
                <a:solidFill>
                  <a:srgbClr val="1B1B1B"/>
                </a:solidFill>
                <a:effectLst/>
                <a:latin typeface="Graphik Web"/>
              </a:rPr>
              <a:t>"Those who sow in tears will reap with songs of joy." (Psm126:5 NIV)</a:t>
            </a:r>
          </a:p>
          <a:p>
            <a:r>
              <a:rPr lang="en-US" altLang="ja-JP" b="0" i="0" dirty="0">
                <a:solidFill>
                  <a:srgbClr val="1B1B1B"/>
                </a:solidFill>
                <a:effectLst/>
                <a:latin typeface="Graphik Web"/>
              </a:rPr>
              <a:t>"</a:t>
            </a:r>
            <a:r>
              <a:rPr lang="ja-JP" altLang="en-US" b="0" i="0">
                <a:solidFill>
                  <a:srgbClr val="1B1B1B"/>
                </a:solidFill>
                <a:effectLst/>
                <a:latin typeface="Graphik Web"/>
              </a:rPr>
              <a:t>流泪撒种的、必欢呼收割。</a:t>
            </a:r>
            <a:r>
              <a:rPr lang="en-US" altLang="ja-JP" b="0" i="0" dirty="0">
                <a:solidFill>
                  <a:srgbClr val="1B1B1B"/>
                </a:solidFill>
                <a:effectLst/>
                <a:latin typeface="Graphik Web"/>
              </a:rPr>
              <a:t>" (Psm126:5 CUVS)</a:t>
            </a:r>
            <a:endParaRPr lang="en-US" dirty="0"/>
          </a:p>
        </p:txBody>
      </p:sp>
    </p:spTree>
    <p:extLst>
      <p:ext uri="{BB962C8B-B14F-4D97-AF65-F5344CB8AC3E}">
        <p14:creationId xmlns:p14="http://schemas.microsoft.com/office/powerpoint/2010/main" val="15916223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1081385" cy="686435"/>
          </a:xfrm>
        </p:spPr>
        <p:txBody>
          <a:bodyPr/>
          <a:lstStyle/>
          <a:p>
            <a:pPr algn="ctr"/>
            <a:r>
              <a:rPr lang="zh-CN" altLang="en-US" b="1" dirty="0">
                <a:solidFill>
                  <a:srgbClr val="00B050"/>
                </a:solidFill>
                <a:latin typeface="DFKai-SB" panose="03000509000000000000" pitchFamily="65" charset="-120"/>
                <a:ea typeface="DFKai-SB" panose="03000509000000000000" pitchFamily="65" charset="-120"/>
                <a:sym typeface="+mn-ea"/>
              </a:rPr>
              <a:t>個人反思</a:t>
            </a:r>
            <a:r>
              <a:rPr lang="en-US" altLang="zh-CN" b="1" dirty="0">
                <a:solidFill>
                  <a:srgbClr val="00B050"/>
                </a:solidFill>
                <a:latin typeface="DFKai-SB" panose="03000509000000000000" pitchFamily="65" charset="-120"/>
                <a:ea typeface="DFKai-SB" panose="03000509000000000000" pitchFamily="65" charset="-120"/>
                <a:sym typeface="+mn-ea"/>
              </a:rPr>
              <a:t> </a:t>
            </a:r>
            <a:endParaRPr lang="zh-CN" altLang="en-US" sz="2400" b="1" dirty="0">
              <a:solidFill>
                <a:schemeClr val="tx1"/>
              </a:solidFill>
              <a:highlight>
                <a:srgbClr val="FFFF00"/>
              </a:highlight>
              <a:latin typeface="DFKai-SB" panose="03000509000000000000" pitchFamily="65" charset="-120"/>
              <a:ea typeface="DFKai-SB" panose="03000509000000000000" pitchFamily="65" charset="-120"/>
            </a:endParaRPr>
          </a:p>
        </p:txBody>
      </p:sp>
      <p:sp>
        <p:nvSpPr>
          <p:cNvPr id="3" name="Content Placeholder 2"/>
          <p:cNvSpPr>
            <a:spLocks noGrp="1"/>
          </p:cNvSpPr>
          <p:nvPr>
            <p:ph idx="1"/>
            <p:custDataLst>
              <p:tags r:id="rId1"/>
            </p:custDataLst>
          </p:nvPr>
        </p:nvSpPr>
        <p:spPr>
          <a:xfrm>
            <a:off x="609600" y="686435"/>
            <a:ext cx="10972800" cy="5800090"/>
          </a:xfrm>
        </p:spPr>
        <p:txBody>
          <a:bodyPr/>
          <a:lstStyle/>
          <a:p>
            <a:pPr algn="l">
              <a:buNone/>
            </a:pPr>
            <a:r>
              <a:rPr lang="en-US" altLang="zh-CN" b="1" dirty="0">
                <a:highlight>
                  <a:srgbClr val="FFFF00"/>
                </a:highlight>
                <a:latin typeface="DFKai-SB" panose="03000509000000000000" pitchFamily="65" charset="-120"/>
                <a:ea typeface="DFKai-SB" panose="03000509000000000000" pitchFamily="65" charset="-120"/>
              </a:rPr>
              <a:t>Parenting When Life is Hard</a:t>
            </a:r>
            <a:r>
              <a:rPr lang="zh-CN" altLang="en-US" sz="2800" b="1" dirty="0">
                <a:latin typeface="DFKai-SB" panose="03000509000000000000" pitchFamily="65" charset="-120"/>
                <a:ea typeface="DFKai-SB" panose="03000509000000000000" pitchFamily="65" charset="-120"/>
              </a:rPr>
              <a:t>：</a:t>
            </a:r>
            <a:r>
              <a:rPr lang="en-US" altLang="zh-CN" sz="2800" dirty="0">
                <a:sym typeface="+mn-ea"/>
              </a:rPr>
              <a:t>How to raise your child during the difficult and hopeless times? </a:t>
            </a:r>
          </a:p>
          <a:p>
            <a:pPr marL="357505" indent="-357505" algn="l">
              <a:buNone/>
            </a:pPr>
            <a:endParaRPr lang="en-US" altLang="zh-CN" sz="2800" dirty="0">
              <a:sym typeface="+mn-ea"/>
            </a:endParaRPr>
          </a:p>
          <a:p>
            <a:pPr marL="0" indent="0" algn="l">
              <a:buNone/>
            </a:pPr>
            <a:r>
              <a:rPr lang="en-US" altLang="zh-CN" sz="2800" dirty="0">
                <a:sym typeface="+mn-ea"/>
              </a:rPr>
              <a:t>Behold the Lord. Never give up.</a:t>
            </a:r>
          </a:p>
          <a:p>
            <a:pPr algn="l">
              <a:buFont typeface="Wingdings" pitchFamily="2" charset="2"/>
              <a:buChar char="q"/>
            </a:pPr>
            <a:endParaRPr lang="en-US" altLang="zh-CN" sz="2800" dirty="0">
              <a:sym typeface="+mn-ea"/>
            </a:endParaRPr>
          </a:p>
          <a:p>
            <a:pPr marL="357505" indent="-357505" algn="l">
              <a:buNone/>
            </a:pPr>
            <a:r>
              <a:rPr lang="en-US" altLang="zh-CN" sz="2800" dirty="0">
                <a:sym typeface="+mn-ea"/>
              </a:rPr>
              <a:t> </a:t>
            </a:r>
          </a:p>
          <a:p>
            <a:pPr marL="357505" indent="-357505" algn="l">
              <a:buNone/>
            </a:pPr>
            <a:endParaRPr lang="en-US" altLang="zh-CN" sz="2800" b="1" dirty="0">
              <a:solidFill>
                <a:srgbClr val="7030A0"/>
              </a:solidFill>
              <a:highlight>
                <a:srgbClr val="FFFF00"/>
              </a:highlight>
              <a:latin typeface="DFKai-SB" panose="03000509000000000000" pitchFamily="65" charset="-120"/>
              <a:ea typeface="DFKai-SB" panose="03000509000000000000" pitchFamily="65" charset="-120"/>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custDataLst>
              <p:tags r:id="rId1"/>
            </p:custDataLst>
            <p:extLst>
              <p:ext uri="{D42A27DB-BD31-4B8C-83A1-F6EECF244321}">
                <p14:modId xmlns:p14="http://schemas.microsoft.com/office/powerpoint/2010/main" val="71375230"/>
              </p:ext>
            </p:extLst>
          </p:nvPr>
        </p:nvGraphicFramePr>
        <p:xfrm>
          <a:off x="480695" y="478203"/>
          <a:ext cx="11230610" cy="6045689"/>
        </p:xfrm>
        <a:graphic>
          <a:graphicData uri="http://schemas.openxmlformats.org/drawingml/2006/table">
            <a:tbl>
              <a:tblPr firstRow="1" bandRow="1">
                <a:tableStyleId>{5C22544A-7EE6-4342-B048-85BDC9FD1C3A}</a:tableStyleId>
              </a:tblPr>
              <a:tblGrid>
                <a:gridCol w="11230610">
                  <a:extLst>
                    <a:ext uri="{9D8B030D-6E8A-4147-A177-3AD203B41FA5}">
                      <a16:colId xmlns:a16="http://schemas.microsoft.com/office/drawing/2014/main" val="20000"/>
                    </a:ext>
                  </a:extLst>
                </a:gridCol>
              </a:tblGrid>
              <a:tr h="656609">
                <a:tc>
                  <a:txBody>
                    <a:bodyPr/>
                    <a:lstStyle/>
                    <a:p>
                      <a:pPr algn="ctr">
                        <a:buNone/>
                      </a:pPr>
                      <a:r>
                        <a:rPr lang="en-US" altLang="zh-CN" sz="3200" dirty="0"/>
                        <a:t>Closing Prayer</a:t>
                      </a:r>
                    </a:p>
                  </a:txBody>
                  <a:tcPr/>
                </a:tc>
                <a:extLst>
                  <a:ext uri="{0D108BD9-81ED-4DB2-BD59-A6C34878D82A}">
                    <a16:rowId xmlns:a16="http://schemas.microsoft.com/office/drawing/2014/main" val="10000"/>
                  </a:ext>
                </a:extLst>
              </a:tr>
              <a:tr h="5389080">
                <a:tc>
                  <a:txBody>
                    <a:bodyPr/>
                    <a:lstStyle/>
                    <a:p>
                      <a:pPr algn="l">
                        <a:buNone/>
                      </a:pPr>
                      <a:r>
                        <a:rPr lang="en-US" sz="2800" i="1" dirty="0"/>
                        <a:t>Dear Heavenly Father, </a:t>
                      </a:r>
                      <a:r>
                        <a:rPr lang="en-US" sz="2800" dirty="0"/>
                        <a:t>the Lord Jesus Christ. Thank you for giving me the child. It is your property and your inheritance. May you guide me to raise your child, teach my child according to your will. May you use my child for your Kingdom of God. Do not lead us into temptation. May your name be glorified, generation by generation, and forever. I pray in the name of Jesus. Amen.  </a:t>
                      </a:r>
                      <a:endParaRPr lang="en-US" sz="2800" i="1" dirty="0"/>
                    </a:p>
                  </a:txBody>
                  <a:tcPr marL="137160" marR="137160" marT="137160" marB="13716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61109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Text Box 5"/>
          <p:cNvSpPr txBox="1"/>
          <p:nvPr/>
        </p:nvSpPr>
        <p:spPr>
          <a:xfrm>
            <a:off x="609600" y="931862"/>
            <a:ext cx="9635099" cy="5632311"/>
          </a:xfrm>
          <a:prstGeom prst="rect">
            <a:avLst/>
          </a:prstGeom>
          <a:noFill/>
        </p:spPr>
        <p:txBody>
          <a:bodyPr wrap="square" rtlCol="0" anchor="t">
            <a:spAutoFit/>
          </a:bodyPr>
          <a:lstStyle/>
          <a:p>
            <a:pPr marL="635" indent="-635">
              <a:buNone/>
            </a:pPr>
            <a:r>
              <a:rPr lang="en-US" altLang="en-US" sz="2400" dirty="0">
                <a:sym typeface="+mn-ea"/>
              </a:rPr>
              <a:t>1. A song for Children: It's Purim!</a:t>
            </a:r>
          </a:p>
          <a:p>
            <a:pPr marL="635" indent="-635">
              <a:buNone/>
            </a:pPr>
            <a:r>
              <a:rPr lang="en-US" altLang="en-US" sz="2400" dirty="0">
                <a:sym typeface="+mn-ea"/>
                <a:hlinkClick r:id="rId2">
                  <a:extLst>
                    <a:ext uri="{A12FA001-AC4F-418D-AE19-62706E023703}">
                      <ahyp:hlinkClr xmlns:ahyp="http://schemas.microsoft.com/office/drawing/2018/hyperlinkcolor" val="tx"/>
                    </a:ext>
                  </a:extLst>
                </a:hlinkClick>
              </a:rPr>
              <a:t>https://www.youtube.com/watch?v=frwpuMEVA5k</a:t>
            </a:r>
            <a:endParaRPr lang="en-US" altLang="en-US" sz="2400" dirty="0">
              <a:sym typeface="+mn-ea"/>
            </a:endParaRPr>
          </a:p>
          <a:p>
            <a:pPr marL="635" indent="-635">
              <a:buNone/>
            </a:pPr>
            <a:br>
              <a:rPr lang="en-US" altLang="en-US" sz="2400" dirty="0">
                <a:sym typeface="+mn-ea"/>
              </a:rPr>
            </a:br>
            <a:br>
              <a:rPr lang="en-US" altLang="en-US" sz="2400" dirty="0">
                <a:sym typeface="+mn-ea"/>
              </a:rPr>
            </a:br>
            <a:r>
              <a:rPr lang="en-US" altLang="en-US" sz="2400" dirty="0">
                <a:sym typeface="+mn-ea"/>
              </a:rPr>
              <a:t>2. Purim - New York Boys Choir - </a:t>
            </a:r>
            <a:r>
              <a:rPr lang="en-US" altLang="en-US" sz="2400" dirty="0" err="1">
                <a:sym typeface="+mn-ea"/>
              </a:rPr>
              <a:t>Hipil</a:t>
            </a:r>
            <a:r>
              <a:rPr lang="en-US" altLang="en-US" sz="2400" dirty="0">
                <a:sym typeface="+mn-ea"/>
              </a:rPr>
              <a:t> </a:t>
            </a:r>
            <a:r>
              <a:rPr lang="en-US" altLang="en-US" sz="2400" dirty="0" err="1">
                <a:sym typeface="+mn-ea"/>
              </a:rPr>
              <a:t>Pur</a:t>
            </a:r>
            <a:r>
              <a:rPr lang="en-US" altLang="en-US" sz="2400" dirty="0">
                <a:sym typeface="+mn-ea"/>
              </a:rPr>
              <a:t> </a:t>
            </a:r>
          </a:p>
          <a:p>
            <a:pPr marL="635" indent="-635">
              <a:buNone/>
            </a:pPr>
            <a:r>
              <a:rPr lang="en-US" altLang="en-US" sz="2400" dirty="0">
                <a:sym typeface="+mn-ea"/>
                <a:hlinkClick r:id="rId3">
                  <a:extLst>
                    <a:ext uri="{A12FA001-AC4F-418D-AE19-62706E023703}">
                      <ahyp:hlinkClr xmlns:ahyp="http://schemas.microsoft.com/office/drawing/2018/hyperlinkcolor" val="tx"/>
                    </a:ext>
                  </a:extLst>
                </a:hlinkClick>
              </a:rPr>
              <a:t>https://www.youtube.com/watch?v=7AMpwghyjwg&amp;list=RD7AMpwghyjwg&amp;start_radio=1</a:t>
            </a:r>
            <a:br>
              <a:rPr lang="en-US" altLang="en-US" sz="2400" dirty="0">
                <a:sym typeface="+mn-ea"/>
              </a:rPr>
            </a:br>
            <a:br>
              <a:rPr lang="en-US" altLang="en-US" sz="2400" dirty="0">
                <a:sym typeface="+mn-ea"/>
              </a:rPr>
            </a:br>
            <a:r>
              <a:rPr lang="en-US" altLang="en-US" sz="2400" dirty="0">
                <a:sym typeface="+mn-ea"/>
              </a:rPr>
              <a:t>https://</a:t>
            </a:r>
            <a:r>
              <a:rPr lang="en-US" altLang="en-US" sz="2400" dirty="0" err="1">
                <a:sym typeface="+mn-ea"/>
              </a:rPr>
              <a:t>www.youtube.com</a:t>
            </a:r>
            <a:r>
              <a:rPr lang="en-US" altLang="en-US" sz="2400" dirty="0">
                <a:sym typeface="+mn-ea"/>
              </a:rPr>
              <a:t>/</a:t>
            </a:r>
            <a:r>
              <a:rPr lang="en-US" altLang="en-US" sz="2400" dirty="0" err="1">
                <a:sym typeface="+mn-ea"/>
              </a:rPr>
              <a:t>watch?v</a:t>
            </a:r>
            <a:r>
              <a:rPr lang="en-US" altLang="en-US" sz="2400" dirty="0">
                <a:sym typeface="+mn-ea"/>
              </a:rPr>
              <a:t>=un8HXJwQzA8&amp;list=RDun8HXJwQzA8&amp;start_radio=1</a:t>
            </a:r>
          </a:p>
          <a:p>
            <a:pPr marL="635" indent="-635">
              <a:buNone/>
            </a:pPr>
            <a:br>
              <a:rPr lang="en-US" altLang="en-US" sz="2400" dirty="0">
                <a:sym typeface="+mn-ea"/>
              </a:rPr>
            </a:br>
            <a:r>
              <a:rPr lang="en-US" altLang="en-US" sz="2400" dirty="0">
                <a:sym typeface="+mn-ea"/>
              </a:rPr>
              <a:t>The Purim Song </a:t>
            </a:r>
            <a:br>
              <a:rPr lang="en-US" altLang="en-US" sz="2400" dirty="0">
                <a:sym typeface="+mn-ea"/>
              </a:rPr>
            </a:br>
            <a:r>
              <a:rPr lang="en-US" altLang="en-US" sz="2400" dirty="0">
                <a:sym typeface="+mn-ea"/>
                <a:hlinkClick r:id="rId4">
                  <a:extLst>
                    <a:ext uri="{A12FA001-AC4F-418D-AE19-62706E023703}">
                      <ahyp:hlinkClr xmlns:ahyp="http://schemas.microsoft.com/office/drawing/2018/hyperlinkcolor" val="tx"/>
                    </a:ext>
                  </a:extLst>
                </a:hlinkClick>
              </a:rPr>
              <a:t>https://www.youtube.com/watch?v=BDEnbL0FOUs&amp;list=RDBDEnbL0FOUs&amp;start_radio=1</a:t>
            </a:r>
            <a:r>
              <a:rPr lang="en-US" altLang="en-US" sz="2400" dirty="0">
                <a:sym typeface="+mn-ea"/>
              </a:rPr>
              <a:t> </a:t>
            </a:r>
          </a:p>
          <a:p>
            <a:pPr marL="635" indent="-635">
              <a:buNone/>
            </a:pPr>
            <a:endParaRPr lang="en-US" altLang="en-US" sz="2400" dirty="0">
              <a:sym typeface="+mn-ea"/>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WPP_GENERATETEXT" val="1"/>
</p:tagLst>
</file>

<file path=ppt/tags/tag6.xml><?xml version="1.0" encoding="utf-8"?>
<p:tagLst xmlns:a="http://schemas.openxmlformats.org/drawingml/2006/main" xmlns:r="http://schemas.openxmlformats.org/officeDocument/2006/relationships" xmlns:p="http://schemas.openxmlformats.org/presentationml/2006/main">
  <p:tag name="TABLE_ENDDRAG_ORIGIN_RECT" val="884*430"/>
  <p:tag name="TABLE_ENDDRAG_RECT" val="39*87*884*430"/>
</p:tagLst>
</file>

<file path=ppt/theme/theme1.xml><?xml version="1.0" encoding="utf-8"?>
<a:theme xmlns:a="http://schemas.openxmlformats.org/drawingml/2006/main" name="Orange Waves">
  <a:themeElements>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fontScheme name="Orange Waves">
      <a:majorFont>
        <a:latin typeface="Arial"/>
        <a:ea typeface="SimSun"/>
        <a:cs typeface=""/>
      </a:majorFont>
      <a:minorFont>
        <a:latin typeface="Arial"/>
        <a:ea typeface="SimSun"/>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spDef>
    <a:ln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lnDef>
  </a:objectDefaults>
  <a:extraClrSchemeLst>
    <a:extraClrScheme>
      <a:clrScheme name="Orange Wav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range Wav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range Wav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range Wav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range Wav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range Wav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range Wav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range Wav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range Wav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range Wav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range Wav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range Wav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5298</TotalTime>
  <Words>893</Words>
  <Application>Microsoft Macintosh PowerPoint</Application>
  <PresentationFormat>Widescreen</PresentationFormat>
  <Paragraphs>101</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DFKai-SB</vt:lpstr>
      <vt:lpstr>Graphik Web</vt:lpstr>
      <vt:lpstr>Times New Roman</vt:lpstr>
      <vt:lpstr>Wingdings</vt:lpstr>
      <vt:lpstr>Orange Waves</vt:lpstr>
      <vt:lpstr>Esther (以斯帖) Chapter 2  Book of Esther  and  Parenting in Adversity 逆境中教养孩子  </vt:lpstr>
      <vt:lpstr>PowerPoint Presentation</vt:lpstr>
      <vt:lpstr>Who is Esther? a hopeless child and in a hopeless generation.</vt:lpstr>
      <vt:lpstr>How to raise a hopeless child in adversity?</vt:lpstr>
      <vt:lpstr>Parenting Learning from Mordecai (1)</vt:lpstr>
      <vt:lpstr>Parenting Learning from Mordecai (2)</vt:lpstr>
      <vt:lpstr>Parenting Learning from Mordecai (3)</vt:lpstr>
      <vt:lpstr>Parenting Learning from Mordecai (4)</vt:lpstr>
      <vt:lpstr>Parenting Learning from Mordecai (5)</vt:lpstr>
      <vt:lpstr>Summary of Parenting Learning from Mordecai (6)</vt:lpstr>
      <vt:lpstr>God’s Reward</vt:lpstr>
      <vt:lpstr>個人反思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約書亞記四章19-24節</dc:title>
  <dc:creator>STEVE LIN</dc:creator>
  <cp:lastModifiedBy>Charles D</cp:lastModifiedBy>
  <cp:revision>297</cp:revision>
  <dcterms:created xsi:type="dcterms:W3CDTF">2024-01-10T14:09:00Z</dcterms:created>
  <dcterms:modified xsi:type="dcterms:W3CDTF">2026-02-14T04:08:35Z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E2CDD37EF5E445F8B804523E65AA62AC_13</vt:lpwstr>
  </property>
  <property fmtid="{D5CDD505-2E9C-101B-9397-08002B2CF9AE}" pid="3" name="KSOProductBuildVer">
    <vt:lpwstr>1033-12.2.0.21931</vt:lpwstr>
  </property>
</Properties>
</file>