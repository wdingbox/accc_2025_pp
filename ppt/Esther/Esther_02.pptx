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comments/comment1.xml" ContentType="application/vnd.openxmlformats-officedocument.presentationml.comment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1414" r:id="rId2"/>
    <p:sldId id="1475" r:id="rId3"/>
    <p:sldId id="1477" r:id="rId4"/>
    <p:sldId id="1469" r:id="rId5"/>
    <p:sldId id="1478" r:id="rId6"/>
    <p:sldId id="1480" r:id="rId7"/>
    <p:sldId id="1481" r:id="rId8"/>
    <p:sldId id="1482" r:id="rId9"/>
    <p:sldId id="1483" r:id="rId10"/>
    <p:sldId id="1484" r:id="rId11"/>
    <p:sldId id="1472" r:id="rId12"/>
    <p:sldId id="1443" r:id="rId13"/>
    <p:sldId id="1459" r:id="rId14"/>
    <p:sldId id="145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D" initials="CD" lastIdx="14" clrIdx="0">
    <p:extLst>
      <p:ext uri="{19B8F6BF-5375-455C-9EA6-DF929625EA0E}">
        <p15:presenceInfo xmlns:p15="http://schemas.microsoft.com/office/powerpoint/2012/main" userId="7aa6f9c3fd0ddac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ED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68" autoAdjust="0"/>
    <p:restoredTop sz="94660"/>
  </p:normalViewPr>
  <p:slideViewPr>
    <p:cSldViewPr snapToGrid="0">
      <p:cViewPr varScale="1">
        <p:scale>
          <a:sx n="109" d="100"/>
          <a:sy n="109" d="100"/>
        </p:scale>
        <p:origin x="216"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03T23:06:39.012" idx="14">
    <p:pos x="10" y="10"/>
    <p:text>Here Iam</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2/11/26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lIns="0" tIns="0" rIns="0" bIns="0">
            <a:normAutofit/>
          </a:bodyPr>
          <a:lstStyle>
            <a:lvl1pPr algn="l" fontAlgn="base">
              <a:defRPr sz="3200">
                <a:solidFill>
                  <a:schemeClr val="tx1">
                    <a:lumMod val="85000"/>
                    <a:lumOff val="15000"/>
                  </a:schemeClr>
                </a:solidFill>
                <a:latin typeface="Arial" panose="020B0604020202020204" pitchFamily="34" charset="0"/>
                <a:sym typeface="Arial" panose="020B0604020202020204" pitchFamily="34" charset="0"/>
              </a:defRPr>
            </a:lvl1pPr>
          </a:lstStyle>
          <a:p>
            <a:r>
              <a:rPr lang="en-US"/>
              <a:t>Click to add title</a:t>
            </a:r>
          </a:p>
        </p:txBody>
      </p:sp>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4"/>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2/11/26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youtube.com/watch?v=oK3JOfPFuGw" TargetMode="Externa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yNtid3wdDWA&amp;list=RDyNtid3wdDWA&amp;start_radio=1&amp;ab_channel=GaiseBaba" TargetMode="External"/><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hyperlink" Target="https://www.youtube.com/watch?v=a-wWKL-7M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68933" y="264000"/>
            <a:ext cx="5081997" cy="4166870"/>
          </a:xfrm>
        </p:spPr>
        <p:txBody>
          <a:bodyPr/>
          <a:lstStyle/>
          <a:p>
            <a:pPr algn="ctr"/>
            <a:r>
              <a:rPr lang="en-US" altLang="zh-CN" sz="4600" b="1" dirty="0">
                <a:solidFill>
                  <a:srgbClr val="FF0000"/>
                </a:solidFill>
                <a:latin typeface="DFKai-SB" panose="03000509000000000000" pitchFamily="65" charset="-120"/>
                <a:ea typeface="DFKai-SB" panose="03000509000000000000" pitchFamily="65" charset="-120"/>
              </a:rPr>
              <a:t>Esther </a:t>
            </a:r>
            <a:r>
              <a:rPr lang="en-US" altLang="ja-JP" sz="4600" b="1" dirty="0">
                <a:solidFill>
                  <a:srgbClr val="FF0000"/>
                </a:solidFill>
                <a:latin typeface="DFKai-SB" panose="03000509000000000000" pitchFamily="65" charset="-120"/>
                <a:ea typeface="DFKai-SB" panose="03000509000000000000" pitchFamily="65" charset="-120"/>
              </a:rPr>
              <a:t>(</a:t>
            </a:r>
            <a:r>
              <a:rPr lang="ja-JP" altLang="en-US" sz="4600" b="1">
                <a:solidFill>
                  <a:srgbClr val="FF0000"/>
                </a:solidFill>
                <a:latin typeface="DFKai-SB" panose="03000509000000000000" pitchFamily="65" charset="-120"/>
                <a:ea typeface="DFKai-SB" panose="03000509000000000000" pitchFamily="65" charset="-120"/>
              </a:rPr>
              <a:t>以斯帖</a:t>
            </a:r>
            <a:r>
              <a:rPr lang="en-US" altLang="ja-JP" sz="4600" b="1" dirty="0">
                <a:solidFill>
                  <a:srgbClr val="FF0000"/>
                </a:solidFill>
                <a:latin typeface="DFKai-SB" panose="03000509000000000000" pitchFamily="65" charset="-120"/>
                <a:ea typeface="DFKai-SB" panose="03000509000000000000" pitchFamily="65" charset="-120"/>
              </a:rPr>
              <a:t>)</a:t>
            </a:r>
            <a:br>
              <a:rPr lang="en-US" altLang="ja-JP" sz="4600" b="1" dirty="0">
                <a:solidFill>
                  <a:srgbClr val="FF0000"/>
                </a:solidFill>
                <a:latin typeface="DFKai-SB" panose="03000509000000000000" pitchFamily="65" charset="-120"/>
                <a:ea typeface="DFKai-SB" panose="03000509000000000000" pitchFamily="65" charset="-120"/>
              </a:rPr>
            </a:br>
            <a:r>
              <a:rPr lang="en-US" altLang="ja-JP" sz="4600" b="1" dirty="0">
                <a:solidFill>
                  <a:srgbClr val="FF0000"/>
                </a:solidFill>
                <a:latin typeface="DFKai-SB" panose="03000509000000000000" pitchFamily="65" charset="-120"/>
                <a:ea typeface="DFKai-SB" panose="03000509000000000000" pitchFamily="65" charset="-120"/>
              </a:rPr>
              <a:t>Chapter</a:t>
            </a:r>
            <a:r>
              <a:rPr lang="en-US" altLang="zh-CN" sz="4600" b="1" dirty="0">
                <a:solidFill>
                  <a:srgbClr val="FF0000"/>
                </a:solidFill>
                <a:latin typeface="DFKai-SB" panose="03000509000000000000" pitchFamily="65" charset="-120"/>
                <a:ea typeface="DFKai-SB" panose="03000509000000000000" pitchFamily="65" charset="-120"/>
              </a:rPr>
              <a:t> 2</a:t>
            </a:r>
            <a:br>
              <a:rPr lang="zh-CN" altLang="en-US" sz="4600" b="1" dirty="0">
                <a:solidFill>
                  <a:srgbClr val="FF0000"/>
                </a:solidFill>
                <a:latin typeface="DFKai-SB" panose="03000509000000000000" pitchFamily="65" charset="-120"/>
                <a:ea typeface="DFKai-SB" panose="03000509000000000000" pitchFamily="65" charset="-120"/>
              </a:rPr>
            </a:br>
            <a:r>
              <a:rPr lang="en-US" altLang="zh-CN" sz="4600" b="1" dirty="0">
                <a:solidFill>
                  <a:srgbClr val="FF0000"/>
                </a:solidFill>
                <a:latin typeface="DFKai-SB" panose="03000509000000000000" pitchFamily="65" charset="-120"/>
                <a:ea typeface="DFKai-SB" panose="03000509000000000000" pitchFamily="65" charset="-120"/>
              </a:rPr>
              <a:t> </a:t>
            </a:r>
            <a:r>
              <a:rPr lang="en-US" sz="3200" b="1" dirty="0">
                <a:solidFill>
                  <a:srgbClr val="3366FF"/>
                </a:solidFill>
              </a:rPr>
              <a:t>Book of Esther </a:t>
            </a:r>
            <a:br>
              <a:rPr lang="en-US" sz="3200" b="1" dirty="0">
                <a:solidFill>
                  <a:srgbClr val="3366FF"/>
                </a:solidFill>
              </a:rPr>
            </a:br>
            <a:r>
              <a:rPr lang="en-US" sz="3200" b="1" dirty="0">
                <a:solidFill>
                  <a:srgbClr val="3366FF"/>
                </a:solidFill>
              </a:rPr>
              <a:t>and </a:t>
            </a:r>
            <a:br>
              <a:rPr lang="en-US" sz="3200" b="1" dirty="0">
                <a:solidFill>
                  <a:srgbClr val="3366FF"/>
                </a:solidFill>
              </a:rPr>
            </a:br>
            <a:r>
              <a:rPr lang="en-US" sz="3200" b="1" dirty="0">
                <a:solidFill>
                  <a:srgbClr val="3366FF"/>
                </a:solidFill>
              </a:rPr>
              <a:t>Parenting in Adversity</a:t>
            </a:r>
            <a:br>
              <a:rPr lang="en-US" sz="3200" b="1" dirty="0">
                <a:solidFill>
                  <a:srgbClr val="3366FF"/>
                </a:solidFill>
              </a:rPr>
            </a:br>
            <a:r>
              <a:rPr lang="zh-CN" altLang="en-US" sz="4800" b="1" dirty="0">
                <a:solidFill>
                  <a:srgbClr val="FFC000"/>
                </a:solidFill>
                <a:latin typeface="DFKai-SB" panose="03000509000000000000" pitchFamily="65" charset="-120"/>
                <a:ea typeface="DFKai-SB" panose="03000509000000000000" pitchFamily="65" charset="-120"/>
                <a:sym typeface="+mn-ea"/>
              </a:rPr>
              <a:t>逆境中教养孩子</a:t>
            </a:r>
            <a:br>
              <a:rPr lang="zh-CN" altLang="en-US" sz="4600" b="1" dirty="0">
                <a:solidFill>
                  <a:srgbClr val="FF0000"/>
                </a:solidFill>
                <a:latin typeface="DFKai-SB" panose="03000509000000000000" pitchFamily="65" charset="-120"/>
                <a:ea typeface="DFKai-SB" panose="03000509000000000000" pitchFamily="65" charset="-120"/>
              </a:rPr>
            </a:br>
            <a:r>
              <a:rPr lang="en-US" altLang="zh-CN" sz="4600" b="1" dirty="0">
                <a:solidFill>
                  <a:srgbClr val="FF0000"/>
                </a:solidFill>
                <a:latin typeface="DFKai-SB" panose="03000509000000000000" pitchFamily="65" charset="-120"/>
                <a:ea typeface="DFKai-SB" panose="03000509000000000000" pitchFamily="65" charset="-120"/>
              </a:rPr>
              <a:t> </a:t>
            </a:r>
            <a:endParaRPr lang="zh-CN" altLang="en-US" sz="4600" b="1" dirty="0">
              <a:solidFill>
                <a:srgbClr val="FF0000"/>
              </a:solidFill>
              <a:latin typeface="DFKai-SB" panose="03000509000000000000" pitchFamily="65" charset="-120"/>
              <a:ea typeface="DFKai-SB" panose="03000509000000000000" pitchFamily="65" charset="-120"/>
            </a:endParaRPr>
          </a:p>
        </p:txBody>
      </p:sp>
      <p:sp>
        <p:nvSpPr>
          <p:cNvPr id="3" name="Subtitle 2"/>
          <p:cNvSpPr>
            <a:spLocks noGrp="1"/>
          </p:cNvSpPr>
          <p:nvPr>
            <p:ph type="subTitle" idx="1"/>
          </p:nvPr>
        </p:nvSpPr>
        <p:spPr>
          <a:xfrm>
            <a:off x="7316788" y="4637405"/>
            <a:ext cx="4178935" cy="2220595"/>
          </a:xfrm>
          <a:scene3d>
            <a:camera prst="obliqueTopRight"/>
            <a:lightRig rig="threePt" dir="t"/>
          </a:scene3d>
        </p:spPr>
        <p:txBody>
          <a:bodyPr>
            <a:scene3d>
              <a:camera prst="isometricTopUp"/>
              <a:lightRig rig="threePt" dir="t"/>
            </a:scene3d>
          </a:bodyPr>
          <a:lstStyle/>
          <a:p>
            <a:pPr algn="ctr"/>
            <a:r>
              <a:rPr lang="zh-CN" altLang="en-US" sz="4400" b="1" dirty="0">
                <a:solidFill>
                  <a:srgbClr val="FFC000"/>
                </a:solidFill>
                <a:latin typeface="DFKai-SB" panose="03000509000000000000" pitchFamily="65" charset="-120"/>
                <a:ea typeface="DFKai-SB" panose="03000509000000000000" pitchFamily="65" charset="-120"/>
                <a:sym typeface="+mn-ea"/>
              </a:rPr>
              <a:t>親子靈修</a:t>
            </a:r>
            <a:br>
              <a:rPr lang="zh-CN" altLang="en-US" sz="4400" b="1" dirty="0">
                <a:solidFill>
                  <a:srgbClr val="FFC000"/>
                </a:solidFill>
                <a:latin typeface="DFKai-SB" panose="03000509000000000000" pitchFamily="65" charset="-120"/>
                <a:ea typeface="DFKai-SB" panose="03000509000000000000" pitchFamily="65" charset="-120"/>
                <a:sym typeface="+mn-ea"/>
              </a:rPr>
            </a:br>
            <a:r>
              <a:rPr lang="en-US" altLang="zh-CN" sz="4400" b="1" dirty="0">
                <a:solidFill>
                  <a:srgbClr val="FFC000"/>
                </a:solidFill>
                <a:latin typeface="DFKai-SB" panose="03000509000000000000" pitchFamily="65" charset="-120"/>
                <a:ea typeface="DFKai-SB" panose="03000509000000000000" pitchFamily="65" charset="-120"/>
                <a:sym typeface="+mn-ea"/>
              </a:rPr>
              <a:t>William</a:t>
            </a:r>
            <a:r>
              <a:rPr lang="zh-CN" altLang="en-US" sz="4400" b="1" dirty="0">
                <a:solidFill>
                  <a:srgbClr val="FFC000"/>
                </a:solidFill>
                <a:latin typeface="DFKai-SB" panose="03000509000000000000" pitchFamily="65" charset="-120"/>
                <a:ea typeface="DFKai-SB" panose="03000509000000000000" pitchFamily="65" charset="-120"/>
                <a:sym typeface="+mn-ea"/>
              </a:rPr>
              <a:t>分享</a:t>
            </a:r>
            <a:endParaRPr lang="en-US" sz="4400" b="1" dirty="0">
              <a:solidFill>
                <a:srgbClr val="FFC000"/>
              </a:solidFill>
              <a:latin typeface="DFKai-SB" panose="03000509000000000000" pitchFamily="65" charset="-120"/>
              <a:ea typeface="DFKai-SB" panose="03000509000000000000" pitchFamily="65" charset="-120"/>
            </a:endParaRPr>
          </a:p>
          <a:p>
            <a:pPr algn="ctr"/>
            <a:r>
              <a:rPr lang="en-US" sz="4400" b="1" dirty="0">
                <a:solidFill>
                  <a:srgbClr val="FFC000"/>
                </a:solidFill>
                <a:latin typeface="DFKai-SB" panose="03000509000000000000" pitchFamily="65" charset="-120"/>
                <a:ea typeface="DFKai-SB" panose="03000509000000000000" pitchFamily="65" charset="-120"/>
              </a:rPr>
              <a:t>08-01-2025</a:t>
            </a:r>
          </a:p>
        </p:txBody>
      </p:sp>
      <p:sp>
        <p:nvSpPr>
          <p:cNvPr id="8" name="Text Box 7"/>
          <p:cNvSpPr txBox="1"/>
          <p:nvPr/>
        </p:nvSpPr>
        <p:spPr>
          <a:xfrm>
            <a:off x="876300" y="2642235"/>
            <a:ext cx="4064000" cy="368300"/>
          </a:xfrm>
          <a:prstGeom prst="rect">
            <a:avLst/>
          </a:prstGeom>
          <a:noFill/>
        </p:spPr>
        <p:txBody>
          <a:bodyPr wrap="square" rtlCol="0">
            <a:spAutoFit/>
          </a:bodyPr>
          <a:lstStyle/>
          <a:p>
            <a:endParaRPr lang="en-US"/>
          </a:p>
        </p:txBody>
      </p:sp>
      <p:sp>
        <p:nvSpPr>
          <p:cNvPr id="4" name="Text Box 3"/>
          <p:cNvSpPr txBox="1"/>
          <p:nvPr/>
        </p:nvSpPr>
        <p:spPr>
          <a:xfrm>
            <a:off x="974431" y="4062570"/>
            <a:ext cx="5558984" cy="368300"/>
          </a:xfrm>
          <a:prstGeom prst="rect">
            <a:avLst/>
          </a:prstGeom>
          <a:noFill/>
        </p:spPr>
        <p:txBody>
          <a:bodyPr wrap="square" rtlCol="0" anchor="t">
            <a:noAutofit/>
          </a:bodyPr>
          <a:lstStyle/>
          <a:p>
            <a:pPr algn="ctr"/>
            <a:r>
              <a:rPr lang="en-US" altLang="en-US" dirty="0"/>
              <a:t>https://</a:t>
            </a:r>
            <a:r>
              <a:rPr lang="en-US" altLang="en-US" dirty="0" err="1"/>
              <a:t>www.youtube.com</a:t>
            </a:r>
            <a:r>
              <a:rPr lang="en-US" altLang="en-US" dirty="0"/>
              <a:t>/</a:t>
            </a:r>
            <a:r>
              <a:rPr lang="en-US" altLang="en-US" dirty="0" err="1"/>
              <a:t>watch?v</a:t>
            </a:r>
            <a:r>
              <a:rPr lang="en-US" altLang="en-US" dirty="0"/>
              <a:t>=oK3JOfPFuGw</a:t>
            </a:r>
          </a:p>
        </p:txBody>
      </p:sp>
      <p:pic>
        <p:nvPicPr>
          <p:cNvPr id="10" name="Picture 9">
            <a:extLst>
              <a:ext uri="{FF2B5EF4-FFF2-40B4-BE49-F238E27FC236}">
                <a16:creationId xmlns:a16="http://schemas.microsoft.com/office/drawing/2014/main" id="{53BDC425-8BD2-24FA-3091-8B01D831E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9" y="0"/>
            <a:ext cx="6920224" cy="39239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7000E64E-CF1C-295C-23A4-8273F1B03026}"/>
              </a:ext>
            </a:extLst>
          </p:cNvPr>
          <p:cNvSpPr>
            <a:spLocks noGrp="1"/>
          </p:cNvSpPr>
          <p:nvPr>
            <p:ph idx="1"/>
          </p:nvPr>
        </p:nvSpPr>
        <p:spPr>
          <a:xfrm>
            <a:off x="901576" y="5090788"/>
            <a:ext cx="9894277" cy="1538979"/>
          </a:xfrm>
        </p:spPr>
        <p:txBody>
          <a:bodyPr/>
          <a:lstStyle/>
          <a:p>
            <a:pPr algn="ctr"/>
            <a:r>
              <a:rPr lang="en-US" altLang="en-US" sz="1600" dirty="0">
                <a:hlinkClick r:id="rId2"/>
              </a:rPr>
              <a:t>https://</a:t>
            </a:r>
            <a:r>
              <a:rPr lang="en-US" altLang="en-US" sz="1600" dirty="0" err="1">
                <a:hlinkClick r:id="rId2"/>
              </a:rPr>
              <a:t>www.youtube.com</a:t>
            </a:r>
            <a:r>
              <a:rPr lang="en-US" altLang="en-US" sz="1600" dirty="0">
                <a:hlinkClick r:id="rId2"/>
              </a:rPr>
              <a:t>/</a:t>
            </a:r>
            <a:r>
              <a:rPr lang="en-US" altLang="en-US" sz="1600" dirty="0" err="1">
                <a:hlinkClick r:id="rId2"/>
              </a:rPr>
              <a:t>watch?v</a:t>
            </a:r>
            <a:r>
              <a:rPr lang="en-US" altLang="en-US" sz="1600" dirty="0">
                <a:hlinkClick r:id="rId2"/>
              </a:rPr>
              <a:t>=oK3JOfPFuGw</a:t>
            </a:r>
            <a:endParaRPr lang="en-US" altLang="en-US" sz="1600" dirty="0"/>
          </a:p>
          <a:p>
            <a:pPr algn="ctr"/>
            <a:r>
              <a:rPr lang="en-US" dirty="0"/>
              <a:t>Esther</a:t>
            </a:r>
          </a:p>
        </p:txBody>
      </p:sp>
      <p:pic>
        <p:nvPicPr>
          <p:cNvPr id="3" name="Picture 2">
            <a:extLst>
              <a:ext uri="{FF2B5EF4-FFF2-40B4-BE49-F238E27FC236}">
                <a16:creationId xmlns:a16="http://schemas.microsoft.com/office/drawing/2014/main" id="{41D961AB-22DD-0666-EA8C-CEDDDEAB56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541915"/>
            <a:ext cx="7772400" cy="4370054"/>
          </a:xfrm>
          <a:prstGeom prst="rect">
            <a:avLst/>
          </a:prstGeom>
        </p:spPr>
      </p:pic>
    </p:spTree>
    <p:extLst>
      <p:ext uri="{BB962C8B-B14F-4D97-AF65-F5344CB8AC3E}">
        <p14:creationId xmlns:p14="http://schemas.microsoft.com/office/powerpoint/2010/main" val="962262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Who is Esther?</a:t>
            </a:r>
          </a:p>
        </p:txBody>
      </p:sp>
      <p:graphicFrame>
        <p:nvGraphicFramePr>
          <p:cNvPr id="4" name="Content Placeholder 3">
            <a:extLst>
              <a:ext uri="{FF2B5EF4-FFF2-40B4-BE49-F238E27FC236}">
                <a16:creationId xmlns:a16="http://schemas.microsoft.com/office/drawing/2014/main" id="{03F7F89D-AC45-684F-1D38-90608AAD91D5}"/>
              </a:ext>
            </a:extLst>
          </p:cNvPr>
          <p:cNvGraphicFramePr>
            <a:graphicFrameLocks noGrp="1"/>
          </p:cNvGraphicFramePr>
          <p:nvPr>
            <p:ph idx="1"/>
            <p:extLst>
              <p:ext uri="{D42A27DB-BD31-4B8C-83A1-F6EECF244321}">
                <p14:modId xmlns:p14="http://schemas.microsoft.com/office/powerpoint/2010/main" val="4144713131"/>
              </p:ext>
            </p:extLst>
          </p:nvPr>
        </p:nvGraphicFramePr>
        <p:xfrm>
          <a:off x="609600" y="1174750"/>
          <a:ext cx="10972797" cy="3200400"/>
        </p:xfrm>
        <a:graphic>
          <a:graphicData uri="http://schemas.openxmlformats.org/drawingml/2006/table">
            <a:tbl>
              <a:tblPr firstRow="1" bandRow="1">
                <a:tableStyleId>{5C22544A-7EE6-4342-B048-85BDC9FD1C3A}</a:tableStyleId>
              </a:tblPr>
              <a:tblGrid>
                <a:gridCol w="480646">
                  <a:extLst>
                    <a:ext uri="{9D8B030D-6E8A-4147-A177-3AD203B41FA5}">
                      <a16:colId xmlns:a16="http://schemas.microsoft.com/office/drawing/2014/main" val="2340441976"/>
                    </a:ext>
                  </a:extLst>
                </a:gridCol>
                <a:gridCol w="7596554">
                  <a:extLst>
                    <a:ext uri="{9D8B030D-6E8A-4147-A177-3AD203B41FA5}">
                      <a16:colId xmlns:a16="http://schemas.microsoft.com/office/drawing/2014/main" val="1943942"/>
                    </a:ext>
                  </a:extLst>
                </a:gridCol>
                <a:gridCol w="2895597">
                  <a:extLst>
                    <a:ext uri="{9D8B030D-6E8A-4147-A177-3AD203B41FA5}">
                      <a16:colId xmlns:a16="http://schemas.microsoft.com/office/drawing/2014/main" val="571946203"/>
                    </a:ext>
                  </a:extLst>
                </a:gridCol>
              </a:tblGrid>
              <a:tr h="370840">
                <a:tc>
                  <a:txBody>
                    <a:bodyPr/>
                    <a:lstStyle/>
                    <a:p>
                      <a:r>
                        <a:rPr lang="en-US" dirty="0"/>
                        <a:t>#</a:t>
                      </a:r>
                    </a:p>
                  </a:txBody>
                  <a:tcPr/>
                </a:tc>
                <a:tc>
                  <a:txBody>
                    <a:bodyPr/>
                    <a:lstStyle/>
                    <a:p>
                      <a:r>
                        <a:rPr lang="en-US" sz="2400" dirty="0"/>
                        <a:t>Who is Esther (</a:t>
                      </a:r>
                      <a:r>
                        <a:rPr lang="en-US" sz="2400" dirty="0" err="1"/>
                        <a:t>Hadasah</a:t>
                      </a:r>
                      <a:r>
                        <a:rPr lang="en-US" sz="2400" dirty="0"/>
                        <a:t>)</a:t>
                      </a:r>
                    </a:p>
                  </a:txBody>
                  <a:tcPr/>
                </a:tc>
                <a:tc>
                  <a:txBody>
                    <a:bodyPr/>
                    <a:lstStyle/>
                    <a:p>
                      <a:r>
                        <a:rPr lang="en-US" sz="2400" dirty="0"/>
                        <a:t>Position in </a:t>
                      </a:r>
                      <a:r>
                        <a:rPr lang="en-US" sz="2400" dirty="0" err="1"/>
                        <a:t>Sciety</a:t>
                      </a:r>
                      <a:endParaRPr lang="en-US" sz="2400" dirty="0"/>
                    </a:p>
                  </a:txBody>
                  <a:tcPr/>
                </a:tc>
                <a:extLst>
                  <a:ext uri="{0D108BD9-81ED-4DB2-BD59-A6C34878D82A}">
                    <a16:rowId xmlns:a16="http://schemas.microsoft.com/office/drawing/2014/main" val="427071646"/>
                  </a:ext>
                </a:extLst>
              </a:tr>
              <a:tr h="370840">
                <a:tc>
                  <a:txBody>
                    <a:bodyPr/>
                    <a:lstStyle/>
                    <a:p>
                      <a:r>
                        <a:rPr lang="en-US" dirty="0"/>
                        <a:t>1</a:t>
                      </a:r>
                    </a:p>
                  </a:txBody>
                  <a:tcPr/>
                </a:tc>
                <a:tc>
                  <a:txBody>
                    <a:bodyPr/>
                    <a:lstStyle/>
                    <a:p>
                      <a:r>
                        <a:rPr lang="en-US" sz="2400" dirty="0">
                          <a:latin typeface="Times New Roman" panose="02020603050405020304" pitchFamily="18" charset="0"/>
                          <a:cs typeface="Times New Roman" panose="02020603050405020304" pitchFamily="18" charset="0"/>
                        </a:rPr>
                        <a:t>A girl</a:t>
                      </a:r>
                    </a:p>
                  </a:txBody>
                  <a:tcPr/>
                </a:tc>
                <a:tc>
                  <a:txBody>
                    <a:bodyPr/>
                    <a:lstStyle/>
                    <a:p>
                      <a:r>
                        <a:rPr lang="en-US" sz="2400" dirty="0">
                          <a:latin typeface="Times New Roman" panose="02020603050405020304" pitchFamily="18" charset="0"/>
                          <a:cs typeface="Times New Roman" panose="02020603050405020304" pitchFamily="18" charset="0"/>
                        </a:rPr>
                        <a:t>Weak</a:t>
                      </a:r>
                    </a:p>
                  </a:txBody>
                  <a:tcPr/>
                </a:tc>
                <a:extLst>
                  <a:ext uri="{0D108BD9-81ED-4DB2-BD59-A6C34878D82A}">
                    <a16:rowId xmlns:a16="http://schemas.microsoft.com/office/drawing/2014/main" val="488174752"/>
                  </a:ext>
                </a:extLst>
              </a:tr>
              <a:tr h="370840">
                <a:tc>
                  <a:txBody>
                    <a:bodyPr/>
                    <a:lstStyle/>
                    <a:p>
                      <a:r>
                        <a:rPr lang="en-US" dirty="0"/>
                        <a:t>2</a:t>
                      </a:r>
                    </a:p>
                  </a:txBody>
                  <a:tcPr/>
                </a:tc>
                <a:tc>
                  <a:txBody>
                    <a:bodyPr/>
                    <a:lstStyle/>
                    <a:p>
                      <a:r>
                        <a:rPr lang="en-US" sz="2400" dirty="0">
                          <a:latin typeface="Times New Roman" panose="02020603050405020304" pitchFamily="18" charset="0"/>
                          <a:cs typeface="Times New Roman" panose="02020603050405020304" pitchFamily="18" charset="0"/>
                        </a:rPr>
                        <a:t>An orphan (her parents died when she was little)</a:t>
                      </a:r>
                    </a:p>
                  </a:txBody>
                  <a:tcPr/>
                </a:tc>
                <a:tc>
                  <a:txBody>
                    <a:bodyPr/>
                    <a:lstStyle/>
                    <a:p>
                      <a:r>
                        <a:rPr lang="en-US" sz="2400" dirty="0">
                          <a:latin typeface="Times New Roman" panose="02020603050405020304" pitchFamily="18" charset="0"/>
                          <a:cs typeface="Times New Roman" panose="02020603050405020304" pitchFamily="18" charset="0"/>
                        </a:rPr>
                        <a:t>Humiliated</a:t>
                      </a:r>
                    </a:p>
                  </a:txBody>
                  <a:tcPr/>
                </a:tc>
                <a:extLst>
                  <a:ext uri="{0D108BD9-81ED-4DB2-BD59-A6C34878D82A}">
                    <a16:rowId xmlns:a16="http://schemas.microsoft.com/office/drawing/2014/main" val="2680651709"/>
                  </a:ext>
                </a:extLst>
              </a:tr>
              <a:tr h="370840">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1B1B1B"/>
                          </a:solidFill>
                          <a:latin typeface="Times New Roman" panose="02020603050405020304" pitchFamily="18" charset="0"/>
                          <a:cs typeface="Times New Roman" panose="02020603050405020304" pitchFamily="18" charset="0"/>
                        </a:rPr>
                        <a:t>An immigrant (exiled from Jerusalem to Persia)</a:t>
                      </a:r>
                    </a:p>
                  </a:txBody>
                  <a:tcPr/>
                </a:tc>
                <a:tc>
                  <a:txBody>
                    <a:bodyPr/>
                    <a:lstStyle/>
                    <a:p>
                      <a:r>
                        <a:rPr lang="en-US" sz="2400" dirty="0">
                          <a:latin typeface="Times New Roman" panose="02020603050405020304" pitchFamily="18" charset="0"/>
                          <a:cs typeface="Times New Roman" panose="02020603050405020304" pitchFamily="18" charset="0"/>
                        </a:rPr>
                        <a:t>Lowest in society</a:t>
                      </a:r>
                    </a:p>
                  </a:txBody>
                  <a:tcPr/>
                </a:tc>
                <a:extLst>
                  <a:ext uri="{0D108BD9-81ED-4DB2-BD59-A6C34878D82A}">
                    <a16:rowId xmlns:a16="http://schemas.microsoft.com/office/drawing/2014/main" val="2293154587"/>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1B1B1B"/>
                          </a:solidFill>
                          <a:latin typeface="Times New Roman" panose="02020603050405020304" pitchFamily="18" charset="0"/>
                          <a:cs typeface="Times New Roman" panose="02020603050405020304" pitchFamily="18" charset="0"/>
                        </a:rPr>
                        <a:t>An offspring of Benjaminite. A tribe of declined Israelites</a:t>
                      </a:r>
                    </a:p>
                  </a:txBody>
                  <a:tcPr/>
                </a:tc>
                <a:tc>
                  <a:txBody>
                    <a:bodyPr/>
                    <a:lstStyle/>
                    <a:p>
                      <a:r>
                        <a:rPr lang="en-US" sz="2400" dirty="0">
                          <a:latin typeface="Times New Roman" panose="02020603050405020304" pitchFamily="18" charset="0"/>
                          <a:cs typeface="Times New Roman" panose="02020603050405020304" pitchFamily="18" charset="0"/>
                        </a:rPr>
                        <a:t>A declined race </a:t>
                      </a:r>
                    </a:p>
                  </a:txBody>
                  <a:tcPr/>
                </a:tc>
                <a:extLst>
                  <a:ext uri="{0D108BD9-81ED-4DB2-BD59-A6C34878D82A}">
                    <a16:rowId xmlns:a16="http://schemas.microsoft.com/office/drawing/2014/main" val="2376288802"/>
                  </a:ext>
                </a:extLst>
              </a:tr>
              <a:tr h="370840">
                <a:tc>
                  <a:txBody>
                    <a:bodyPr/>
                    <a:lstStyle/>
                    <a:p>
                      <a:r>
                        <a:rPr lang="en-US" dirty="0"/>
                        <a:t>5</a:t>
                      </a:r>
                    </a:p>
                  </a:txBody>
                  <a:tcPr/>
                </a:tc>
                <a:tc>
                  <a:txBody>
                    <a:bodyPr/>
                    <a:lstStyle/>
                    <a:p>
                      <a:r>
                        <a:rPr lang="en-US" sz="2400" dirty="0">
                          <a:latin typeface="Times New Roman" panose="02020603050405020304" pitchFamily="18" charset="0"/>
                          <a:cs typeface="Times New Roman" panose="02020603050405020304" pitchFamily="18" charset="0"/>
                        </a:rPr>
                        <a:t>Raised by uncle Mordecai</a:t>
                      </a:r>
                    </a:p>
                  </a:txBody>
                  <a:tcPr/>
                </a:tc>
                <a:tc>
                  <a:txBody>
                    <a:bodyPr/>
                    <a:lstStyle/>
                    <a:p>
                      <a:r>
                        <a:rPr lang="en-US" sz="2400" dirty="0">
                          <a:latin typeface="Times New Roman" panose="02020603050405020304" pitchFamily="18" charset="0"/>
                          <a:cs typeface="Times New Roman" panose="02020603050405020304" pitchFamily="18" charset="0"/>
                        </a:rPr>
                        <a:t>Unfamous family</a:t>
                      </a:r>
                    </a:p>
                  </a:txBody>
                  <a:tcPr/>
                </a:tc>
                <a:extLst>
                  <a:ext uri="{0D108BD9-81ED-4DB2-BD59-A6C34878D82A}">
                    <a16:rowId xmlns:a16="http://schemas.microsoft.com/office/drawing/2014/main" val="3813976560"/>
                  </a:ext>
                </a:extLst>
              </a:tr>
              <a:tr h="370840">
                <a:tc>
                  <a:txBody>
                    <a:bodyPr/>
                    <a:lstStyle/>
                    <a:p>
                      <a:r>
                        <a:rPr lang="en-US" dirty="0"/>
                        <a:t>6</a:t>
                      </a:r>
                    </a:p>
                  </a:txBody>
                  <a:tcPr/>
                </a:tc>
                <a:tc>
                  <a:txBody>
                    <a:bodyPr/>
                    <a:lstStyle/>
                    <a:p>
                      <a:r>
                        <a:rPr lang="en-US" sz="2400" dirty="0">
                          <a:latin typeface="Times New Roman" panose="02020603050405020304" pitchFamily="18" charset="0"/>
                          <a:cs typeface="Times New Roman" panose="02020603050405020304" pitchFamily="18" charset="0"/>
                        </a:rPr>
                        <a:t>Captured people (slavery or working class)</a:t>
                      </a:r>
                    </a:p>
                  </a:txBody>
                  <a:tcPr/>
                </a:tc>
                <a:tc>
                  <a:txBody>
                    <a:bodyPr/>
                    <a:lstStyle/>
                    <a:p>
                      <a:r>
                        <a:rPr lang="en-US" sz="2400" dirty="0">
                          <a:latin typeface="Times New Roman" panose="02020603050405020304" pitchFamily="18" charset="0"/>
                          <a:cs typeface="Times New Roman" panose="02020603050405020304" pitchFamily="18" charset="0"/>
                        </a:rPr>
                        <a:t>Loser</a:t>
                      </a:r>
                    </a:p>
                  </a:txBody>
                  <a:tcPr/>
                </a:tc>
                <a:extLst>
                  <a:ext uri="{0D108BD9-81ED-4DB2-BD59-A6C34878D82A}">
                    <a16:rowId xmlns:a16="http://schemas.microsoft.com/office/drawing/2014/main" val="1369729233"/>
                  </a:ext>
                </a:extLst>
              </a:tr>
            </a:tbl>
          </a:graphicData>
        </a:graphic>
      </p:graphicFrame>
      <p:sp>
        <p:nvSpPr>
          <p:cNvPr id="5" name="TextBox 4">
            <a:extLst>
              <a:ext uri="{FF2B5EF4-FFF2-40B4-BE49-F238E27FC236}">
                <a16:creationId xmlns:a16="http://schemas.microsoft.com/office/drawing/2014/main" id="{11022AB8-8B6E-1212-14A5-59F86DDAF7B3}"/>
              </a:ext>
            </a:extLst>
          </p:cNvPr>
          <p:cNvSpPr txBox="1"/>
          <p:nvPr/>
        </p:nvSpPr>
        <p:spPr>
          <a:xfrm>
            <a:off x="609600" y="4640513"/>
            <a:ext cx="10972797" cy="1569660"/>
          </a:xfrm>
          <a:prstGeom prst="rect">
            <a:avLst/>
          </a:prstGeom>
          <a:noFill/>
        </p:spPr>
        <p:txBody>
          <a:bodyPr wrap="square" rtlCol="0">
            <a:spAutoFit/>
          </a:bodyPr>
          <a:lstStyle/>
          <a:p>
            <a:r>
              <a:rPr lang="en-US" sz="3200" dirty="0"/>
              <a:t>Esther </a:t>
            </a:r>
          </a:p>
          <a:p>
            <a:pPr marL="457200" indent="-457200">
              <a:buFont typeface="Arial" panose="020B0604020202020204" pitchFamily="34" charset="0"/>
              <a:buChar char="•"/>
            </a:pPr>
            <a:r>
              <a:rPr lang="en-US" sz="3200" dirty="0"/>
              <a:t>is a hopeless child </a:t>
            </a:r>
          </a:p>
          <a:p>
            <a:pPr marL="457200" indent="-457200">
              <a:buFont typeface="Arial" panose="020B0604020202020204" pitchFamily="34" charset="0"/>
              <a:buChar char="•"/>
            </a:pPr>
            <a:r>
              <a:rPr lang="en-US" sz="3200" dirty="0"/>
              <a:t>belongs to a hopeless generation.</a:t>
            </a:r>
          </a:p>
        </p:txBody>
      </p:sp>
    </p:spTree>
    <p:extLst>
      <p:ext uri="{BB962C8B-B14F-4D97-AF65-F5344CB8AC3E}">
        <p14:creationId xmlns:p14="http://schemas.microsoft.com/office/powerpoint/2010/main" val="3490536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How to raise a hopeless child in adversity?</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386862" y="1174750"/>
            <a:ext cx="11418276" cy="5492750"/>
          </a:xfrm>
        </p:spPr>
        <p:txBody>
          <a:bodyPr/>
          <a:lstStyle/>
          <a:p>
            <a:pPr>
              <a:buFont typeface="Wingdings" pitchFamily="2" charset="2"/>
              <a:buChar char="q"/>
            </a:pPr>
            <a:r>
              <a:rPr lang="en-US" dirty="0"/>
              <a:t>Throw away the child</a:t>
            </a:r>
          </a:p>
          <a:p>
            <a:pPr>
              <a:buFont typeface="Wingdings" pitchFamily="2" charset="2"/>
              <a:buChar char="q"/>
            </a:pPr>
            <a:r>
              <a:rPr lang="en-US" dirty="0"/>
              <a:t>Send child to orphan organization</a:t>
            </a:r>
          </a:p>
          <a:p>
            <a:pPr>
              <a:buFont typeface="Wingdings" pitchFamily="2" charset="2"/>
              <a:buChar char="q"/>
            </a:pPr>
            <a:r>
              <a:rPr lang="en-US" dirty="0"/>
              <a:t>Dislike the child</a:t>
            </a:r>
          </a:p>
          <a:p>
            <a:pPr>
              <a:buFont typeface="Wingdings" pitchFamily="2" charset="2"/>
              <a:buChar char="q"/>
            </a:pPr>
            <a:r>
              <a:rPr lang="en-US" dirty="0"/>
              <a:t>Despise the child</a:t>
            </a:r>
          </a:p>
          <a:p>
            <a:pPr>
              <a:buFont typeface="Wingdings" pitchFamily="2" charset="2"/>
              <a:buChar char="q"/>
            </a:pPr>
            <a:r>
              <a:rPr lang="en-US" dirty="0"/>
              <a:t>Look down upon the child</a:t>
            </a:r>
          </a:p>
          <a:p>
            <a:pPr>
              <a:buFont typeface="Wingdings" pitchFamily="2" charset="2"/>
              <a:buChar char="q"/>
            </a:pPr>
            <a:r>
              <a:rPr lang="en-US" altLang="ja-JP" dirty="0"/>
              <a:t>Beat/maltreat child</a:t>
            </a:r>
          </a:p>
          <a:p>
            <a:pPr>
              <a:buFont typeface="Wingdings" pitchFamily="2" charset="2"/>
              <a:buChar char="q"/>
            </a:pPr>
            <a:r>
              <a:rPr lang="en-US" dirty="0"/>
              <a:t>Complain the child</a:t>
            </a:r>
          </a:p>
          <a:p>
            <a:pPr>
              <a:buFont typeface="Wingdings" pitchFamily="2" charset="2"/>
              <a:buChar char="q"/>
            </a:pPr>
            <a:r>
              <a:rPr lang="en-US" dirty="0"/>
              <a:t>…</a:t>
            </a:r>
          </a:p>
        </p:txBody>
      </p:sp>
    </p:spTree>
    <p:extLst>
      <p:ext uri="{BB962C8B-B14F-4D97-AF65-F5344CB8AC3E}">
        <p14:creationId xmlns:p14="http://schemas.microsoft.com/office/powerpoint/2010/main" val="89341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Parenting Learning from Mordecai (1)</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386862" y="1174750"/>
            <a:ext cx="11418276" cy="5492750"/>
          </a:xfrm>
        </p:spPr>
        <p:txBody>
          <a:bodyPr/>
          <a:lstStyle/>
          <a:p>
            <a:r>
              <a:rPr lang="en-US" dirty="0"/>
              <a:t>Have a heart of the mercy of God: adopt Esther as it is.</a:t>
            </a:r>
          </a:p>
          <a:p>
            <a:r>
              <a:rPr lang="en-US" dirty="0"/>
              <a:t>Be patient: hard working to raise child.</a:t>
            </a:r>
          </a:p>
          <a:p>
            <a:r>
              <a:rPr lang="en-US" dirty="0"/>
              <a:t>No complain to take over the parenting duty.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70644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Parenting Learning from Mordecai (2)</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386862" y="1174750"/>
            <a:ext cx="11418276" cy="5492750"/>
          </a:xfrm>
        </p:spPr>
        <p:txBody>
          <a:bodyPr/>
          <a:lstStyle/>
          <a:p>
            <a:r>
              <a:rPr lang="en-US" dirty="0"/>
              <a:t>Never forget the God in heart in adversity.</a:t>
            </a:r>
          </a:p>
          <a:p>
            <a:r>
              <a:rPr lang="en-US" dirty="0"/>
              <a:t>Educate Esther to protect herself in adversity.</a:t>
            </a:r>
          </a:p>
          <a:p>
            <a:r>
              <a:rPr lang="en-US" altLang="ja-JP" dirty="0"/>
              <a:t>"Esther had not revealed her nationality and family background, because Mordecai had forbidden her to do so." (Est2:10 NIV)"</a:t>
            </a:r>
            <a:r>
              <a:rPr lang="ja-JP" altLang="en-US"/>
              <a:t>以斯帖未曾将籍贯宗族告诉人、因为末底改嘱咐他不可叫人知道。</a:t>
            </a:r>
            <a:r>
              <a:rPr lang="en-US" altLang="ja-JP" dirty="0"/>
              <a:t>" (</a:t>
            </a:r>
            <a:r>
              <a:rPr lang="en-US" dirty="0"/>
              <a:t>Est2:10 CUVS).</a:t>
            </a:r>
          </a:p>
          <a:p>
            <a:r>
              <a:rPr lang="en-US" dirty="0"/>
              <a:t>Sow a seed of God in her heart.</a:t>
            </a:r>
          </a:p>
          <a:p>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23101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Parenting Learning from Mordecai (3)</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386862" y="1174750"/>
            <a:ext cx="11418276" cy="5492750"/>
          </a:xfrm>
        </p:spPr>
        <p:txBody>
          <a:bodyPr/>
          <a:lstStyle/>
          <a:p>
            <a:r>
              <a:rPr lang="en-US" dirty="0"/>
              <a:t>Take care of Esther in the adversity.</a:t>
            </a:r>
          </a:p>
          <a:p>
            <a:r>
              <a:rPr lang="en-US" altLang="ja-JP" dirty="0"/>
              <a:t>"Every day he walked back and forth near the courtyard of the harem to find out how Esther was and what was happening to her." (Est2:11 NIV) "</a:t>
            </a:r>
            <a:r>
              <a:rPr lang="ja-JP" altLang="en-US"/>
              <a:t>末底改天天在女院前边行走、要知道以斯帖平安不平安、并后事如何。</a:t>
            </a:r>
            <a:r>
              <a:rPr lang="en-US" altLang="ja-JP" dirty="0"/>
              <a:t>" (</a:t>
            </a:r>
            <a:r>
              <a:rPr lang="en-US" dirty="0"/>
              <a:t>Est2:11 CUVS)</a:t>
            </a:r>
          </a:p>
          <a:p>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6656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Parenting Learning from Mordecai (4)</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386862" y="1174750"/>
            <a:ext cx="11418276" cy="5492750"/>
          </a:xfrm>
        </p:spPr>
        <p:txBody>
          <a:bodyPr/>
          <a:lstStyle/>
          <a:p>
            <a:r>
              <a:rPr lang="en-US" dirty="0"/>
              <a:t>Keep contact with Esther in the adversity.</a:t>
            </a:r>
          </a:p>
          <a:p>
            <a:r>
              <a:rPr lang="en-US" altLang="ja-JP" dirty="0"/>
              <a:t>Esther 2:21–23</a:t>
            </a:r>
            <a:endParaRPr lang="en-US" dirty="0"/>
          </a:p>
          <a:p>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40454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Parenting Learning from Mordecai (5)</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609600" y="1843644"/>
            <a:ext cx="3540369" cy="3692769"/>
          </a:xfrm>
          <a:solidFill>
            <a:schemeClr val="bg1">
              <a:lumMod val="85000"/>
            </a:schemeClr>
          </a:solidFill>
          <a:ln>
            <a:solidFill>
              <a:schemeClr val="tx1"/>
            </a:solidFill>
          </a:ln>
        </p:spPr>
        <p:txBody>
          <a:bodyPr/>
          <a:lstStyle/>
          <a:p>
            <a:pPr marL="0" indent="0" algn="ctr">
              <a:buNone/>
            </a:pPr>
            <a:r>
              <a:rPr lang="en-US" u="sng" dirty="0"/>
              <a:t>Mordecai</a:t>
            </a:r>
          </a:p>
          <a:p>
            <a:r>
              <a:rPr lang="en-US" dirty="0"/>
              <a:t>Faithfulness</a:t>
            </a:r>
          </a:p>
          <a:p>
            <a:r>
              <a:rPr lang="en-US" dirty="0"/>
              <a:t>Endurance</a:t>
            </a:r>
          </a:p>
          <a:p>
            <a:r>
              <a:rPr lang="en-US" dirty="0"/>
              <a:t>Peacefulness</a:t>
            </a:r>
          </a:p>
          <a:p>
            <a:r>
              <a:rPr lang="en-US" dirty="0"/>
              <a:t>Hope</a:t>
            </a:r>
          </a:p>
          <a:p>
            <a:r>
              <a:rPr lang="en-US" dirty="0"/>
              <a:t>Love</a:t>
            </a:r>
          </a:p>
          <a:p>
            <a:endParaRPr lang="en-US" dirty="0"/>
          </a:p>
          <a:p>
            <a:endParaRPr lang="en-US" dirty="0"/>
          </a:p>
          <a:p>
            <a:pPr marL="0" indent="0">
              <a:buNone/>
            </a:pPr>
            <a:endParaRPr lang="en-US" dirty="0"/>
          </a:p>
          <a:p>
            <a:pPr marL="0" indent="0">
              <a:buNone/>
            </a:pPr>
            <a:endParaRPr lang="en-US" dirty="0"/>
          </a:p>
        </p:txBody>
      </p:sp>
      <p:sp>
        <p:nvSpPr>
          <p:cNvPr id="4" name="Content Placeholder 2">
            <a:extLst>
              <a:ext uri="{FF2B5EF4-FFF2-40B4-BE49-F238E27FC236}">
                <a16:creationId xmlns:a16="http://schemas.microsoft.com/office/drawing/2014/main" id="{8E676036-519F-3256-3E10-02933197433D}"/>
              </a:ext>
            </a:extLst>
          </p:cNvPr>
          <p:cNvSpPr txBox="1">
            <a:spLocks/>
          </p:cNvSpPr>
          <p:nvPr/>
        </p:nvSpPr>
        <p:spPr>
          <a:xfrm>
            <a:off x="7354453" y="1535724"/>
            <a:ext cx="4700952" cy="4000690"/>
          </a:xfrm>
          <a:prstGeom prst="rect">
            <a:avLst/>
          </a:prstGeom>
          <a:solidFill>
            <a:schemeClr val="accent1">
              <a:lumMod val="20000"/>
              <a:lumOff val="80000"/>
            </a:schemeClr>
          </a:solidFill>
          <a:ln w="9525">
            <a:solidFill>
              <a:schemeClr val="tx1"/>
            </a:solid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u="sng" dirty="0"/>
              <a:t>Esther</a:t>
            </a:r>
          </a:p>
          <a:p>
            <a:r>
              <a:rPr lang="en-US" dirty="0"/>
              <a:t>Beauty</a:t>
            </a:r>
          </a:p>
          <a:p>
            <a:r>
              <a:rPr lang="en-US" dirty="0"/>
              <a:t>Brave</a:t>
            </a:r>
          </a:p>
          <a:p>
            <a:r>
              <a:rPr lang="en-US" dirty="0"/>
              <a:t>Favored by King</a:t>
            </a:r>
          </a:p>
          <a:p>
            <a:r>
              <a:rPr lang="en-US" dirty="0"/>
              <a:t>Chosen in Divine Purpose</a:t>
            </a:r>
          </a:p>
          <a:p>
            <a:r>
              <a:rPr lang="en-US" dirty="0"/>
              <a:t>Fulfilled God’s Plan</a:t>
            </a:r>
          </a:p>
          <a:p>
            <a:endParaRPr lang="en-US" dirty="0"/>
          </a:p>
          <a:p>
            <a:pPr marL="0" indent="0">
              <a:buFontTx/>
              <a:buNone/>
            </a:pPr>
            <a:endParaRPr lang="en-US" dirty="0"/>
          </a:p>
          <a:p>
            <a:pPr marL="0" indent="0">
              <a:buFontTx/>
              <a:buNone/>
            </a:pPr>
            <a:endParaRPr lang="en-US" dirty="0"/>
          </a:p>
        </p:txBody>
      </p:sp>
      <p:sp>
        <p:nvSpPr>
          <p:cNvPr id="5" name="Right Arrow 4">
            <a:extLst>
              <a:ext uri="{FF2B5EF4-FFF2-40B4-BE49-F238E27FC236}">
                <a16:creationId xmlns:a16="http://schemas.microsoft.com/office/drawing/2014/main" id="{3D027392-E13D-93CF-00D3-482CC603720D}"/>
              </a:ext>
            </a:extLst>
          </p:cNvPr>
          <p:cNvSpPr/>
          <p:nvPr/>
        </p:nvSpPr>
        <p:spPr bwMode="auto">
          <a:xfrm>
            <a:off x="4274476" y="2912328"/>
            <a:ext cx="2955470" cy="155540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sz="4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Convert to</a:t>
            </a:r>
          </a:p>
        </p:txBody>
      </p:sp>
    </p:spTree>
    <p:extLst>
      <p:ext uri="{BB962C8B-B14F-4D97-AF65-F5344CB8AC3E}">
        <p14:creationId xmlns:p14="http://schemas.microsoft.com/office/powerpoint/2010/main" val="295072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Summary of Parenting Learning from Mordecai (6)</a:t>
            </a:r>
          </a:p>
        </p:txBody>
      </p:sp>
      <p:sp>
        <p:nvSpPr>
          <p:cNvPr id="5" name="Right Arrow 4">
            <a:extLst>
              <a:ext uri="{FF2B5EF4-FFF2-40B4-BE49-F238E27FC236}">
                <a16:creationId xmlns:a16="http://schemas.microsoft.com/office/drawing/2014/main" id="{3D027392-E13D-93CF-00D3-482CC603720D}"/>
              </a:ext>
            </a:extLst>
          </p:cNvPr>
          <p:cNvSpPr/>
          <p:nvPr/>
        </p:nvSpPr>
        <p:spPr bwMode="auto">
          <a:xfrm>
            <a:off x="4268981" y="2856400"/>
            <a:ext cx="2955470" cy="155540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sz="4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Leading to</a:t>
            </a:r>
          </a:p>
        </p:txBody>
      </p:sp>
      <p:sp>
        <p:nvSpPr>
          <p:cNvPr id="6" name="TextBox 5">
            <a:extLst>
              <a:ext uri="{FF2B5EF4-FFF2-40B4-BE49-F238E27FC236}">
                <a16:creationId xmlns:a16="http://schemas.microsoft.com/office/drawing/2014/main" id="{25A606D3-477C-3C34-1C0E-8C9EAA7DB77E}"/>
              </a:ext>
            </a:extLst>
          </p:cNvPr>
          <p:cNvSpPr txBox="1"/>
          <p:nvPr/>
        </p:nvSpPr>
        <p:spPr>
          <a:xfrm>
            <a:off x="760117" y="2402445"/>
            <a:ext cx="3004457" cy="2554545"/>
          </a:xfrm>
          <a:prstGeom prst="rect">
            <a:avLst/>
          </a:prstGeom>
          <a:solidFill>
            <a:schemeClr val="bg1">
              <a:lumMod val="85000"/>
            </a:schemeClr>
          </a:solidFill>
        </p:spPr>
        <p:txBody>
          <a:bodyPr wrap="square" rtlCol="0">
            <a:spAutoFit/>
          </a:bodyPr>
          <a:lstStyle/>
          <a:p>
            <a:pPr algn="ctr"/>
            <a:r>
              <a:rPr lang="en-US" sz="4000" dirty="0"/>
              <a:t>Successful</a:t>
            </a:r>
          </a:p>
          <a:p>
            <a:pPr algn="ctr"/>
            <a:r>
              <a:rPr lang="en-US" sz="4000" dirty="0"/>
              <a:t>Parenting</a:t>
            </a:r>
          </a:p>
          <a:p>
            <a:pPr algn="ctr"/>
            <a:r>
              <a:rPr lang="en-US" sz="4000" dirty="0"/>
              <a:t>is</a:t>
            </a:r>
          </a:p>
          <a:p>
            <a:pPr algn="ctr"/>
            <a:r>
              <a:rPr lang="en-US" sz="4000" dirty="0"/>
              <a:t>a Key</a:t>
            </a:r>
          </a:p>
        </p:txBody>
      </p:sp>
      <p:sp>
        <p:nvSpPr>
          <p:cNvPr id="7" name="TextBox 6">
            <a:extLst>
              <a:ext uri="{FF2B5EF4-FFF2-40B4-BE49-F238E27FC236}">
                <a16:creationId xmlns:a16="http://schemas.microsoft.com/office/drawing/2014/main" id="{F9E3DF31-DC21-B138-1FAA-097574C38284}"/>
              </a:ext>
            </a:extLst>
          </p:cNvPr>
          <p:cNvSpPr txBox="1"/>
          <p:nvPr/>
        </p:nvSpPr>
        <p:spPr>
          <a:xfrm>
            <a:off x="7588181" y="2710221"/>
            <a:ext cx="3004457" cy="1938992"/>
          </a:xfrm>
          <a:prstGeom prst="rect">
            <a:avLst/>
          </a:prstGeom>
          <a:solidFill>
            <a:schemeClr val="accent1">
              <a:lumMod val="20000"/>
              <a:lumOff val="80000"/>
            </a:schemeClr>
          </a:solidFill>
        </p:spPr>
        <p:txBody>
          <a:bodyPr wrap="square" rtlCol="0">
            <a:spAutoFit/>
          </a:bodyPr>
          <a:lstStyle/>
          <a:p>
            <a:pPr algn="ctr"/>
            <a:r>
              <a:rPr lang="en-US" sz="4000" dirty="0" err="1"/>
              <a:t>SuccessfulChildren</a:t>
            </a:r>
            <a:endParaRPr lang="en-US" sz="4000" dirty="0"/>
          </a:p>
          <a:p>
            <a:pPr algn="ctr"/>
            <a:r>
              <a:rPr lang="en-US" sz="4000" dirty="0"/>
              <a:t>of God</a:t>
            </a:r>
          </a:p>
        </p:txBody>
      </p:sp>
    </p:spTree>
    <p:extLst>
      <p:ext uri="{BB962C8B-B14F-4D97-AF65-F5344CB8AC3E}">
        <p14:creationId xmlns:p14="http://schemas.microsoft.com/office/powerpoint/2010/main" val="245315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God’s Reward</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609600" y="1174750"/>
            <a:ext cx="10972800" cy="5283200"/>
          </a:xfrm>
        </p:spPr>
        <p:txBody>
          <a:bodyPr/>
          <a:lstStyle/>
          <a:p>
            <a:r>
              <a:rPr lang="en-US" altLang="ja-JP" b="0" i="0" dirty="0">
                <a:solidFill>
                  <a:srgbClr val="1B1B1B"/>
                </a:solidFill>
                <a:effectLst/>
                <a:latin typeface="Graphik Web"/>
              </a:rPr>
              <a:t>"Those who sow in tears will reap with songs of joy." (Psm126:5 NIV)</a:t>
            </a:r>
          </a:p>
          <a:p>
            <a:r>
              <a:rPr lang="en-US" altLang="ja-JP" b="0" i="0" dirty="0">
                <a:solidFill>
                  <a:srgbClr val="1B1B1B"/>
                </a:solidFill>
                <a:effectLst/>
                <a:latin typeface="Graphik Web"/>
              </a:rPr>
              <a:t>"</a:t>
            </a:r>
            <a:r>
              <a:rPr lang="ja-JP" altLang="en-US" b="0" i="0">
                <a:solidFill>
                  <a:srgbClr val="1B1B1B"/>
                </a:solidFill>
                <a:effectLst/>
                <a:latin typeface="Graphik Web"/>
              </a:rPr>
              <a:t>流泪撒种的、必欢呼收割。</a:t>
            </a:r>
            <a:r>
              <a:rPr lang="en-US" altLang="ja-JP" b="0" i="0" dirty="0">
                <a:solidFill>
                  <a:srgbClr val="1B1B1B"/>
                </a:solidFill>
                <a:effectLst/>
                <a:latin typeface="Graphik Web"/>
              </a:rPr>
              <a:t>" (Psm126:5 CUVS)</a:t>
            </a:r>
            <a:endParaRPr lang="en-US" dirty="0"/>
          </a:p>
        </p:txBody>
      </p:sp>
    </p:spTree>
    <p:extLst>
      <p:ext uri="{BB962C8B-B14F-4D97-AF65-F5344CB8AC3E}">
        <p14:creationId xmlns:p14="http://schemas.microsoft.com/office/powerpoint/2010/main" val="159162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1081385" cy="686435"/>
          </a:xfrm>
        </p:spPr>
        <p:txBody>
          <a:bodyPr/>
          <a:lstStyle/>
          <a:p>
            <a:pPr algn="ctr"/>
            <a:r>
              <a:rPr lang="zh-CN" altLang="en-US" b="1" dirty="0">
                <a:solidFill>
                  <a:srgbClr val="00B050"/>
                </a:solidFill>
                <a:latin typeface="DFKai-SB" panose="03000509000000000000" pitchFamily="65" charset="-120"/>
                <a:ea typeface="DFKai-SB" panose="03000509000000000000" pitchFamily="65" charset="-120"/>
                <a:sym typeface="+mn-ea"/>
              </a:rPr>
              <a:t>個人反思</a:t>
            </a:r>
            <a:r>
              <a:rPr lang="en-US" altLang="zh-CN" b="1" dirty="0">
                <a:solidFill>
                  <a:srgbClr val="00B050"/>
                </a:solidFill>
                <a:latin typeface="DFKai-SB" panose="03000509000000000000" pitchFamily="65" charset="-120"/>
                <a:ea typeface="DFKai-SB" panose="03000509000000000000" pitchFamily="65" charset="-120"/>
                <a:sym typeface="+mn-ea"/>
              </a:rPr>
              <a:t> </a:t>
            </a:r>
            <a:endParaRPr lang="zh-CN" altLang="en-US" sz="2400" b="1" dirty="0">
              <a:solidFill>
                <a:schemeClr val="tx1"/>
              </a:solidFill>
              <a:highlight>
                <a:srgbClr val="FFFF00"/>
              </a:highlight>
              <a:latin typeface="DFKai-SB" panose="03000509000000000000" pitchFamily="65" charset="-120"/>
              <a:ea typeface="DFKai-SB" panose="03000509000000000000" pitchFamily="65" charset="-120"/>
            </a:endParaRPr>
          </a:p>
        </p:txBody>
      </p:sp>
      <p:sp>
        <p:nvSpPr>
          <p:cNvPr id="3" name="Content Placeholder 2"/>
          <p:cNvSpPr>
            <a:spLocks noGrp="1"/>
          </p:cNvSpPr>
          <p:nvPr>
            <p:ph idx="1"/>
            <p:custDataLst>
              <p:tags r:id="rId1"/>
            </p:custDataLst>
          </p:nvPr>
        </p:nvSpPr>
        <p:spPr>
          <a:xfrm>
            <a:off x="609600" y="686435"/>
            <a:ext cx="10972800" cy="5800090"/>
          </a:xfrm>
        </p:spPr>
        <p:txBody>
          <a:bodyPr/>
          <a:lstStyle/>
          <a:p>
            <a:pPr algn="l">
              <a:buNone/>
            </a:pPr>
            <a:r>
              <a:rPr lang="en-US" altLang="zh-CN" b="1" dirty="0">
                <a:highlight>
                  <a:srgbClr val="FFFF00"/>
                </a:highlight>
                <a:latin typeface="DFKai-SB" panose="03000509000000000000" pitchFamily="65" charset="-120"/>
                <a:ea typeface="DFKai-SB" panose="03000509000000000000" pitchFamily="65" charset="-120"/>
              </a:rPr>
              <a:t>Parenting When Life is Hard</a:t>
            </a:r>
            <a:r>
              <a:rPr lang="zh-CN" altLang="en-US" sz="2800" b="1" dirty="0">
                <a:latin typeface="DFKai-SB" panose="03000509000000000000" pitchFamily="65" charset="-120"/>
                <a:ea typeface="DFKai-SB" panose="03000509000000000000" pitchFamily="65" charset="-120"/>
              </a:rPr>
              <a:t>：</a:t>
            </a:r>
            <a:r>
              <a:rPr lang="en-US" altLang="zh-CN" sz="2800" dirty="0">
                <a:sym typeface="+mn-ea"/>
              </a:rPr>
              <a:t>How to raise your child during the difficult and hopeless times? </a:t>
            </a:r>
          </a:p>
          <a:p>
            <a:pPr marL="357505" indent="-357505" algn="l">
              <a:buNone/>
            </a:pPr>
            <a:endParaRPr lang="en-US" altLang="zh-CN" sz="2800" dirty="0">
              <a:sym typeface="+mn-ea"/>
            </a:endParaRPr>
          </a:p>
          <a:p>
            <a:pPr marL="0" indent="0" algn="l">
              <a:buNone/>
            </a:pPr>
            <a:r>
              <a:rPr lang="en-US" altLang="zh-CN" sz="2800" dirty="0">
                <a:sym typeface="+mn-ea"/>
              </a:rPr>
              <a:t>Behold the Lord. Never give up.</a:t>
            </a:r>
          </a:p>
          <a:p>
            <a:pPr algn="l">
              <a:buFont typeface="Wingdings" pitchFamily="2" charset="2"/>
              <a:buChar char="q"/>
            </a:pPr>
            <a:endParaRPr lang="en-US" altLang="zh-CN" sz="2800" dirty="0">
              <a:sym typeface="+mn-ea"/>
            </a:endParaRPr>
          </a:p>
          <a:p>
            <a:pPr marL="357505" indent="-357505" algn="l">
              <a:buNone/>
            </a:pPr>
            <a:r>
              <a:rPr lang="en-US" altLang="zh-CN" sz="2800" dirty="0">
                <a:sym typeface="+mn-ea"/>
              </a:rPr>
              <a:t> </a:t>
            </a:r>
          </a:p>
          <a:p>
            <a:pPr marL="357505" indent="-357505" algn="l">
              <a:buNone/>
            </a:pPr>
            <a:endParaRPr lang="en-US" altLang="zh-CN" sz="2800" b="1" dirty="0">
              <a:solidFill>
                <a:srgbClr val="7030A0"/>
              </a:solidFill>
              <a:highlight>
                <a:srgbClr val="FFFF00"/>
              </a:highlight>
              <a:latin typeface="DFKai-SB" panose="03000509000000000000" pitchFamily="65" charset="-120"/>
              <a:ea typeface="DFKai-SB" panose="03000509000000000000" pitchFamily="65" charset="-12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71375230"/>
              </p:ext>
            </p:extLst>
          </p:nvPr>
        </p:nvGraphicFramePr>
        <p:xfrm>
          <a:off x="480695" y="478203"/>
          <a:ext cx="11230610" cy="6045689"/>
        </p:xfrm>
        <a:graphic>
          <a:graphicData uri="http://schemas.openxmlformats.org/drawingml/2006/table">
            <a:tbl>
              <a:tblPr firstRow="1" bandRow="1">
                <a:tableStyleId>{5C22544A-7EE6-4342-B048-85BDC9FD1C3A}</a:tableStyleId>
              </a:tblPr>
              <a:tblGrid>
                <a:gridCol w="11230610">
                  <a:extLst>
                    <a:ext uri="{9D8B030D-6E8A-4147-A177-3AD203B41FA5}">
                      <a16:colId xmlns:a16="http://schemas.microsoft.com/office/drawing/2014/main" val="20000"/>
                    </a:ext>
                  </a:extLst>
                </a:gridCol>
              </a:tblGrid>
              <a:tr h="656609">
                <a:tc>
                  <a:txBody>
                    <a:bodyPr/>
                    <a:lstStyle/>
                    <a:p>
                      <a:pPr algn="ctr">
                        <a:buNone/>
                      </a:pPr>
                      <a:r>
                        <a:rPr lang="en-US" altLang="zh-CN" sz="3200" dirty="0"/>
                        <a:t>Closing Prayer</a:t>
                      </a:r>
                    </a:p>
                  </a:txBody>
                  <a:tcPr/>
                </a:tc>
                <a:extLst>
                  <a:ext uri="{0D108BD9-81ED-4DB2-BD59-A6C34878D82A}">
                    <a16:rowId xmlns:a16="http://schemas.microsoft.com/office/drawing/2014/main" val="10000"/>
                  </a:ext>
                </a:extLst>
              </a:tr>
              <a:tr h="5389080">
                <a:tc>
                  <a:txBody>
                    <a:bodyPr/>
                    <a:lstStyle/>
                    <a:p>
                      <a:pPr algn="l">
                        <a:buNone/>
                      </a:pPr>
                      <a:r>
                        <a:rPr lang="en-US" sz="2800" i="1" dirty="0"/>
                        <a:t>Dear Heavenly Father, </a:t>
                      </a:r>
                      <a:r>
                        <a:rPr lang="en-US" sz="2800" dirty="0"/>
                        <a:t>the Lord Jesus Christ. Thank you for giving me the child. It is your property and your inheritance. May you guide me to raise your child, teach my child according to your will. May you use my child for your Kingdom of God. Do not lead us into temptation. May your name be glorified, generation by generation, and forever. I pray in the name of Jesus. Amen.  </a:t>
                      </a:r>
                      <a:endParaRPr lang="en-US" sz="2800" i="1" dirty="0"/>
                    </a:p>
                  </a:txBody>
                  <a:tcPr marL="137160" marR="137160" marT="137160" marB="13716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1109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descr="Screenshot 2025-07-31 213648"/>
          <p:cNvPicPr>
            <a:picLocks noGrp="1" noChangeAspect="1"/>
          </p:cNvPicPr>
          <p:nvPr>
            <p:ph sz="half" idx="2"/>
          </p:nvPr>
        </p:nvPicPr>
        <p:blipFill>
          <a:blip r:embed="rId2"/>
          <a:srcRect r="15739" b="9740"/>
          <a:stretch>
            <a:fillRect/>
          </a:stretch>
        </p:blipFill>
        <p:spPr>
          <a:xfrm>
            <a:off x="6443980" y="633095"/>
            <a:ext cx="5289550" cy="3101975"/>
          </a:xfrm>
          <a:prstGeom prst="rect">
            <a:avLst/>
          </a:prstGeom>
        </p:spPr>
      </p:pic>
      <p:sp>
        <p:nvSpPr>
          <p:cNvPr id="6" name="Text Box 5"/>
          <p:cNvSpPr txBox="1"/>
          <p:nvPr/>
        </p:nvSpPr>
        <p:spPr>
          <a:xfrm>
            <a:off x="458470" y="2784108"/>
            <a:ext cx="5203191" cy="2308324"/>
          </a:xfrm>
          <a:prstGeom prst="rect">
            <a:avLst/>
          </a:prstGeom>
          <a:noFill/>
        </p:spPr>
        <p:txBody>
          <a:bodyPr wrap="square" rtlCol="0" anchor="t">
            <a:spAutoFit/>
          </a:bodyPr>
          <a:lstStyle/>
          <a:p>
            <a:pPr marL="635" indent="-635">
              <a:buNone/>
            </a:pPr>
            <a:r>
              <a:rPr lang="en-US" altLang="en-US" sz="2400" dirty="0">
                <a:sym typeface="+mn-ea"/>
              </a:rPr>
              <a:t>1.No Turning Back</a:t>
            </a:r>
          </a:p>
          <a:p>
            <a:pPr marL="635" indent="-635">
              <a:buNone/>
            </a:pPr>
            <a:r>
              <a:rPr lang="en-US" altLang="en-US" sz="2400" dirty="0">
                <a:solidFill>
                  <a:srgbClr val="FF0000"/>
                </a:solidFill>
                <a:sym typeface="+mn-ea"/>
                <a:hlinkClick r:id="rId3"/>
              </a:rPr>
              <a:t>https://</a:t>
            </a:r>
            <a:r>
              <a:rPr lang="en-US" altLang="en-US" sz="2400" dirty="0" err="1">
                <a:solidFill>
                  <a:srgbClr val="FF0000"/>
                </a:solidFill>
                <a:sym typeface="+mn-ea"/>
                <a:hlinkClick r:id="rId3"/>
              </a:rPr>
              <a:t>www.youtube.com</a:t>
            </a:r>
            <a:r>
              <a:rPr lang="en-US" altLang="en-US" sz="2400" dirty="0">
                <a:solidFill>
                  <a:srgbClr val="FF0000"/>
                </a:solidFill>
                <a:sym typeface="+mn-ea"/>
                <a:hlinkClick r:id="rId3"/>
              </a:rPr>
              <a:t>/</a:t>
            </a:r>
            <a:r>
              <a:rPr lang="en-US" altLang="en-US" sz="2400" dirty="0" err="1">
                <a:solidFill>
                  <a:srgbClr val="FF0000"/>
                </a:solidFill>
                <a:sym typeface="+mn-ea"/>
                <a:hlinkClick r:id="rId3"/>
              </a:rPr>
              <a:t>watch?v</a:t>
            </a:r>
            <a:r>
              <a:rPr lang="en-US" altLang="en-US" sz="2400" dirty="0">
                <a:solidFill>
                  <a:srgbClr val="FF0000"/>
                </a:solidFill>
                <a:sym typeface="+mn-ea"/>
                <a:hlinkClick r:id="rId3"/>
              </a:rPr>
              <a:t>=yNtid3wdDWA&amp;list=RDyNtid3wdDWA&amp;start_radio=1&amp;ab_channel=</a:t>
            </a:r>
            <a:r>
              <a:rPr lang="en-US" altLang="en-US" sz="2400" dirty="0" err="1">
                <a:solidFill>
                  <a:srgbClr val="FF0000"/>
                </a:solidFill>
                <a:sym typeface="+mn-ea"/>
                <a:hlinkClick r:id="rId3"/>
              </a:rPr>
              <a:t>GaiseBaba</a:t>
            </a:r>
            <a:r>
              <a:rPr lang="en-US" altLang="en-US" sz="2400" dirty="0">
                <a:sym typeface="+mn-ea"/>
                <a:hlinkClick r:id="rId3"/>
              </a:rPr>
              <a:t>         </a:t>
            </a:r>
            <a:endParaRPr lang="en-US" altLang="en-US" sz="2400" dirty="0">
              <a:sym typeface="+mn-ea"/>
            </a:endParaRPr>
          </a:p>
          <a:p>
            <a:pPr marL="635" indent="-635">
              <a:buNone/>
            </a:pPr>
            <a:r>
              <a:rPr lang="en-US" altLang="en-US" sz="2400" dirty="0">
                <a:sym typeface="+mn-ea"/>
              </a:rPr>
              <a:t>Christian Kids</a:t>
            </a:r>
          </a:p>
        </p:txBody>
      </p:sp>
      <p:sp>
        <p:nvSpPr>
          <p:cNvPr id="8" name="Text Box 7"/>
          <p:cNvSpPr txBox="1"/>
          <p:nvPr/>
        </p:nvSpPr>
        <p:spPr>
          <a:xfrm>
            <a:off x="6443980" y="3938270"/>
            <a:ext cx="5399405" cy="2308324"/>
          </a:xfrm>
          <a:prstGeom prst="rect">
            <a:avLst/>
          </a:prstGeom>
          <a:noFill/>
        </p:spPr>
        <p:txBody>
          <a:bodyPr wrap="square" rtlCol="0" anchor="t">
            <a:spAutoFit/>
          </a:bodyPr>
          <a:lstStyle/>
          <a:p>
            <a:pPr marL="0" indent="0" algn="l">
              <a:buNone/>
            </a:pPr>
            <a:r>
              <a:rPr lang="en-US" altLang="en-US" sz="2000" dirty="0">
                <a:sym typeface="+mn-ea"/>
              </a:rPr>
              <a:t>2</a:t>
            </a:r>
            <a:r>
              <a:rPr lang="en-US" altLang="en-US" sz="2400" dirty="0">
                <a:sym typeface="+mn-ea"/>
              </a:rPr>
              <a:t>.</a:t>
            </a:r>
            <a:r>
              <a:rPr lang="en-US" altLang="en-US" sz="2400" dirty="0">
                <a:solidFill>
                  <a:srgbClr val="FF0000"/>
                </a:solidFill>
                <a:sym typeface="+mn-ea"/>
              </a:rPr>
              <a:t> The Song of Moses </a:t>
            </a:r>
            <a:r>
              <a:rPr lang="en-US" altLang="en-US" sz="2400" dirty="0">
                <a:solidFill>
                  <a:srgbClr val="00B050"/>
                </a:solidFill>
                <a:sym typeface="+mn-ea"/>
                <a:hlinkClick r:id="rId4"/>
              </a:rPr>
              <a:t>https://www.youtube.com/watch?v=a-wWKL-7Mrg</a:t>
            </a:r>
            <a:endParaRPr lang="en-US" altLang="en-US" sz="2400" dirty="0">
              <a:solidFill>
                <a:srgbClr val="00B050"/>
              </a:solidFill>
              <a:sym typeface="+mn-ea"/>
            </a:endParaRPr>
          </a:p>
          <a:p>
            <a:pPr marL="0" indent="0" algn="l">
              <a:buNone/>
            </a:pPr>
            <a:r>
              <a:rPr lang="en-US" altLang="en-US" sz="2400" dirty="0">
                <a:sym typeface="+mn-ea"/>
              </a:rPr>
              <a:t>The Song of Moses Like You've Never Heard Before | Christian Worship Song/  World Wide Worship</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WPP_GENERATETEXT" val="1"/>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84*430"/>
  <p:tag name="TABLE_ENDDRAG_RECT" val="39*87*884*430"/>
</p:tagLst>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2478</TotalTime>
  <Words>692</Words>
  <Application>Microsoft Macintosh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DFKai-SB</vt:lpstr>
      <vt:lpstr>Graphik Web</vt:lpstr>
      <vt:lpstr>Times New Roman</vt:lpstr>
      <vt:lpstr>Wingdings</vt:lpstr>
      <vt:lpstr>Orange Waves</vt:lpstr>
      <vt:lpstr>Esther (以斯帖) Chapter 2  Book of Esther  and  Parenting in Adversity 逆境中教养孩子  </vt:lpstr>
      <vt:lpstr>PowerPoint Presentation</vt:lpstr>
      <vt:lpstr>Who is Esther?</vt:lpstr>
      <vt:lpstr>How to raise a hopeless child in adversity?</vt:lpstr>
      <vt:lpstr>Parenting Learning from Mordecai (1)</vt:lpstr>
      <vt:lpstr>Parenting Learning from Mordecai (2)</vt:lpstr>
      <vt:lpstr>Parenting Learning from Mordecai (3)</vt:lpstr>
      <vt:lpstr>Parenting Learning from Mordecai (4)</vt:lpstr>
      <vt:lpstr>Parenting Learning from Mordecai (5)</vt:lpstr>
      <vt:lpstr>Summary of Parenting Learning from Mordecai (6)</vt:lpstr>
      <vt:lpstr>God’s Reward</vt:lpstr>
      <vt:lpstr>個人反思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約書亞記四章19-24節</dc:title>
  <dc:creator>STEVE LIN</dc:creator>
  <cp:lastModifiedBy>Charles D</cp:lastModifiedBy>
  <cp:revision>288</cp:revision>
  <dcterms:created xsi:type="dcterms:W3CDTF">2024-01-10T14:09:00Z</dcterms:created>
  <dcterms:modified xsi:type="dcterms:W3CDTF">2026-02-12T05:08:20Z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E2CDD37EF5E445F8B804523E65AA62AC_13</vt:lpwstr>
  </property>
  <property fmtid="{D5CDD505-2E9C-101B-9397-08002B2CF9AE}" pid="3" name="KSOProductBuildVer">
    <vt:lpwstr>1033-12.2.0.21931</vt:lpwstr>
  </property>
</Properties>
</file>