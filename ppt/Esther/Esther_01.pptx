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1414" r:id="rId2"/>
    <p:sldId id="1469" r:id="rId3"/>
    <p:sldId id="1470" r:id="rId4"/>
    <p:sldId id="1475" r:id="rId5"/>
    <p:sldId id="1442" r:id="rId6"/>
    <p:sldId id="1476" r:id="rId7"/>
    <p:sldId id="1471" r:id="rId8"/>
    <p:sldId id="1472" r:id="rId9"/>
    <p:sldId id="1443" r:id="rId10"/>
    <p:sldId id="1473" r:id="rId11"/>
    <p:sldId id="1474" r:id="rId12"/>
    <p:sldId id="1459" r:id="rId13"/>
    <p:sldId id="147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les D" initials="CD" lastIdx="13" clrIdx="0">
    <p:extLst>
      <p:ext uri="{19B8F6BF-5375-455C-9EA6-DF929625EA0E}">
        <p15:presenceInfo xmlns:p15="http://schemas.microsoft.com/office/powerpoint/2012/main" userId="7aa6f9c3fd0ddac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ED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autoAdjust="0"/>
    <p:restoredTop sz="94660"/>
  </p:normalViewPr>
  <p:slideViewPr>
    <p:cSldViewPr snapToGrid="0">
      <p:cViewPr varScale="1">
        <p:scale>
          <a:sx n="85" d="100"/>
          <a:sy n="85" d="100"/>
        </p:scale>
        <p:origin x="192" y="1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8-03T23:06:39.012" idx="12">
    <p:pos x="10" y="10"/>
    <p:text>Here Iam</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08-03T23:06:39.012" idx="3">
    <p:pos x="10" y="10"/>
    <p:text>Here Iam</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08-03T23:06:39.012" idx="13">
    <p:pos x="10" y="10"/>
    <p:text>Here Iam</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2/11/26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2/11/26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2/11/26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lIns="0" tIns="0" rIns="0" bIns="0">
            <a:normAutofit/>
          </a:bodyPr>
          <a:lstStyle>
            <a:lvl1pPr algn="l" fontAlgn="base">
              <a:defRPr sz="3200">
                <a:solidFill>
                  <a:schemeClr val="tx1">
                    <a:lumMod val="85000"/>
                    <a:lumOff val="15000"/>
                  </a:schemeClr>
                </a:solidFill>
                <a:latin typeface="Arial" panose="020B0604020202020204" pitchFamily="34" charset="0"/>
                <a:sym typeface="Arial" panose="020B0604020202020204" pitchFamily="34" charset="0"/>
              </a:defRPr>
            </a:lvl1pPr>
          </a:lstStyle>
          <a:p>
            <a:r>
              <a:rPr lang="en-US"/>
              <a:t>Click to add title</a:t>
            </a:r>
          </a:p>
        </p:txBody>
      </p:sp>
      <p:sp>
        <p:nvSpPr>
          <p:cNvPr id="3"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p:cNvPicPr>
          <p:nvPr/>
        </p:nvPicPr>
        <p:blipFill>
          <a:blip r:embed="rId14"/>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2/11/26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bibleproject.com/guides/book-of-ezra-nehemiah/"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oK3JOfPFuGw" TargetMode="Externa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oK3JOfPFuGw" TargetMode="Externa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oK3JOfPFuGw" TargetMode="External"/><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frwpuMEVA5k" TargetMode="External"/><Relationship Id="rId2" Type="http://schemas.openxmlformats.org/officeDocument/2006/relationships/hyperlink" Target="https://www.youtube.com/watch?v=8XUYZoguhEQ&amp;list=RD8XUYZoguhEQ&amp;start_radio=1" TargetMode="External"/><Relationship Id="rId1" Type="http://schemas.openxmlformats.org/officeDocument/2006/relationships/slideLayout" Target="../slideLayouts/slideLayout4.xml"/><Relationship Id="rId5" Type="http://schemas.openxmlformats.org/officeDocument/2006/relationships/hyperlink" Target="https://www.youtube.com/watch?v=BDEnbL0FOUs&amp;list=RDBDEnbL0FOUs&amp;start_radio=1" TargetMode="External"/><Relationship Id="rId4" Type="http://schemas.openxmlformats.org/officeDocument/2006/relationships/hyperlink" Target="https://www.youtube.com/watch?v=7AMpwghyjwg&amp;list=RD7AMpwghyjwg&amp;start_radio=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68933" y="264000"/>
            <a:ext cx="5081997" cy="4166870"/>
          </a:xfrm>
        </p:spPr>
        <p:txBody>
          <a:bodyPr/>
          <a:lstStyle/>
          <a:p>
            <a:pPr algn="ctr"/>
            <a:r>
              <a:rPr lang="en-US" altLang="zh-CN" sz="4600" b="1" dirty="0">
                <a:solidFill>
                  <a:srgbClr val="FF0000"/>
                </a:solidFill>
                <a:latin typeface="DFKai-SB" panose="03000509000000000000" pitchFamily="65" charset="-120"/>
                <a:ea typeface="DFKai-SB" panose="03000509000000000000" pitchFamily="65" charset="-120"/>
              </a:rPr>
              <a:t>Esther </a:t>
            </a:r>
            <a:r>
              <a:rPr lang="en-US" altLang="ja-JP" sz="4600" b="1" dirty="0">
                <a:solidFill>
                  <a:srgbClr val="FF0000"/>
                </a:solidFill>
                <a:latin typeface="DFKai-SB" panose="03000509000000000000" pitchFamily="65" charset="-120"/>
                <a:ea typeface="DFKai-SB" panose="03000509000000000000" pitchFamily="65" charset="-120"/>
              </a:rPr>
              <a:t>(</a:t>
            </a:r>
            <a:r>
              <a:rPr lang="ja-JP" altLang="en-US" sz="4600" b="1">
                <a:solidFill>
                  <a:srgbClr val="FF0000"/>
                </a:solidFill>
                <a:latin typeface="DFKai-SB" panose="03000509000000000000" pitchFamily="65" charset="-120"/>
                <a:ea typeface="DFKai-SB" panose="03000509000000000000" pitchFamily="65" charset="-120"/>
              </a:rPr>
              <a:t>以斯帖</a:t>
            </a:r>
            <a:r>
              <a:rPr lang="en-US" altLang="ja-JP" sz="4600" b="1" dirty="0">
                <a:solidFill>
                  <a:srgbClr val="FF0000"/>
                </a:solidFill>
                <a:latin typeface="DFKai-SB" panose="03000509000000000000" pitchFamily="65" charset="-120"/>
                <a:ea typeface="DFKai-SB" panose="03000509000000000000" pitchFamily="65" charset="-120"/>
              </a:rPr>
              <a:t>)</a:t>
            </a:r>
            <a:br>
              <a:rPr lang="en-US" altLang="ja-JP" sz="4600" b="1" dirty="0">
                <a:solidFill>
                  <a:srgbClr val="FF0000"/>
                </a:solidFill>
                <a:latin typeface="DFKai-SB" panose="03000509000000000000" pitchFamily="65" charset="-120"/>
                <a:ea typeface="DFKai-SB" panose="03000509000000000000" pitchFamily="65" charset="-120"/>
              </a:rPr>
            </a:br>
            <a:r>
              <a:rPr lang="en-US" altLang="ja-JP" sz="4600" b="1" dirty="0">
                <a:solidFill>
                  <a:srgbClr val="FF0000"/>
                </a:solidFill>
                <a:latin typeface="DFKai-SB" panose="03000509000000000000" pitchFamily="65" charset="-120"/>
                <a:ea typeface="DFKai-SB" panose="03000509000000000000" pitchFamily="65" charset="-120"/>
              </a:rPr>
              <a:t>Chapter</a:t>
            </a:r>
            <a:r>
              <a:rPr lang="en-US" altLang="zh-CN" sz="4600" b="1" dirty="0">
                <a:solidFill>
                  <a:srgbClr val="FF0000"/>
                </a:solidFill>
                <a:latin typeface="DFKai-SB" panose="03000509000000000000" pitchFamily="65" charset="-120"/>
                <a:ea typeface="DFKai-SB" panose="03000509000000000000" pitchFamily="65" charset="-120"/>
              </a:rPr>
              <a:t> 1</a:t>
            </a:r>
            <a:br>
              <a:rPr lang="zh-CN" altLang="en-US" sz="4600" b="1" dirty="0">
                <a:solidFill>
                  <a:srgbClr val="FF0000"/>
                </a:solidFill>
                <a:latin typeface="DFKai-SB" panose="03000509000000000000" pitchFamily="65" charset="-120"/>
                <a:ea typeface="DFKai-SB" panose="03000509000000000000" pitchFamily="65" charset="-120"/>
              </a:rPr>
            </a:br>
            <a:r>
              <a:rPr lang="en-US" altLang="zh-CN" sz="4600" b="1" dirty="0">
                <a:solidFill>
                  <a:srgbClr val="FF0000"/>
                </a:solidFill>
                <a:latin typeface="DFKai-SB" panose="03000509000000000000" pitchFamily="65" charset="-120"/>
                <a:ea typeface="DFKai-SB" panose="03000509000000000000" pitchFamily="65" charset="-120"/>
              </a:rPr>
              <a:t> </a:t>
            </a:r>
            <a:r>
              <a:rPr lang="en-US" sz="3200" b="1" dirty="0">
                <a:solidFill>
                  <a:srgbClr val="3366FF"/>
                </a:solidFill>
              </a:rPr>
              <a:t>Book of Esther </a:t>
            </a:r>
            <a:br>
              <a:rPr lang="en-US" sz="3200" b="1" dirty="0">
                <a:solidFill>
                  <a:srgbClr val="3366FF"/>
                </a:solidFill>
              </a:rPr>
            </a:br>
            <a:r>
              <a:rPr lang="en-US" sz="3200" b="1" dirty="0">
                <a:solidFill>
                  <a:srgbClr val="3366FF"/>
                </a:solidFill>
              </a:rPr>
              <a:t>and </a:t>
            </a:r>
            <a:br>
              <a:rPr lang="en-US" sz="3200" b="1" dirty="0">
                <a:solidFill>
                  <a:srgbClr val="3366FF"/>
                </a:solidFill>
              </a:rPr>
            </a:br>
            <a:r>
              <a:rPr lang="en-US" sz="3200" b="1" dirty="0">
                <a:solidFill>
                  <a:srgbClr val="3366FF"/>
                </a:solidFill>
              </a:rPr>
              <a:t>Parenting in Adversity</a:t>
            </a:r>
            <a:br>
              <a:rPr lang="en-US" sz="3200" b="1" dirty="0">
                <a:solidFill>
                  <a:srgbClr val="3366FF"/>
                </a:solidFill>
              </a:rPr>
            </a:br>
            <a:r>
              <a:rPr lang="zh-CN" altLang="en-US" sz="4800" b="1" dirty="0">
                <a:solidFill>
                  <a:srgbClr val="FFC000"/>
                </a:solidFill>
                <a:latin typeface="DFKai-SB" panose="03000509000000000000" pitchFamily="65" charset="-120"/>
                <a:ea typeface="DFKai-SB" panose="03000509000000000000" pitchFamily="65" charset="-120"/>
                <a:sym typeface="+mn-ea"/>
              </a:rPr>
              <a:t>逆境中教养孩子</a:t>
            </a:r>
            <a:br>
              <a:rPr lang="zh-CN" altLang="en-US" sz="4600" b="1" dirty="0">
                <a:solidFill>
                  <a:srgbClr val="FF0000"/>
                </a:solidFill>
                <a:latin typeface="DFKai-SB" panose="03000509000000000000" pitchFamily="65" charset="-120"/>
                <a:ea typeface="DFKai-SB" panose="03000509000000000000" pitchFamily="65" charset="-120"/>
              </a:rPr>
            </a:br>
            <a:r>
              <a:rPr lang="en-US" altLang="zh-CN" sz="4600" b="1" dirty="0">
                <a:solidFill>
                  <a:srgbClr val="FF0000"/>
                </a:solidFill>
                <a:latin typeface="DFKai-SB" panose="03000509000000000000" pitchFamily="65" charset="-120"/>
                <a:ea typeface="DFKai-SB" panose="03000509000000000000" pitchFamily="65" charset="-120"/>
              </a:rPr>
              <a:t> </a:t>
            </a:r>
            <a:endParaRPr lang="zh-CN" altLang="en-US" sz="4600" b="1" dirty="0">
              <a:solidFill>
                <a:srgbClr val="FF0000"/>
              </a:solidFill>
              <a:latin typeface="DFKai-SB" panose="03000509000000000000" pitchFamily="65" charset="-120"/>
              <a:ea typeface="DFKai-SB" panose="03000509000000000000" pitchFamily="65" charset="-120"/>
            </a:endParaRPr>
          </a:p>
        </p:txBody>
      </p:sp>
      <p:sp>
        <p:nvSpPr>
          <p:cNvPr id="3" name="Subtitle 2"/>
          <p:cNvSpPr>
            <a:spLocks noGrp="1"/>
          </p:cNvSpPr>
          <p:nvPr>
            <p:ph type="subTitle" idx="1"/>
          </p:nvPr>
        </p:nvSpPr>
        <p:spPr>
          <a:xfrm>
            <a:off x="7316788" y="4637405"/>
            <a:ext cx="4178935" cy="2220595"/>
          </a:xfrm>
          <a:scene3d>
            <a:camera prst="obliqueTopRight"/>
            <a:lightRig rig="threePt" dir="t"/>
          </a:scene3d>
        </p:spPr>
        <p:txBody>
          <a:bodyPr>
            <a:scene3d>
              <a:camera prst="isometricTopUp"/>
              <a:lightRig rig="threePt" dir="t"/>
            </a:scene3d>
          </a:bodyPr>
          <a:lstStyle/>
          <a:p>
            <a:pPr algn="ctr"/>
            <a:r>
              <a:rPr lang="zh-CN" altLang="en-US" sz="4400" b="1" dirty="0">
                <a:solidFill>
                  <a:srgbClr val="FFC000"/>
                </a:solidFill>
                <a:latin typeface="DFKai-SB" panose="03000509000000000000" pitchFamily="65" charset="-120"/>
                <a:ea typeface="DFKai-SB" panose="03000509000000000000" pitchFamily="65" charset="-120"/>
                <a:sym typeface="+mn-ea"/>
              </a:rPr>
              <a:t>親子靈修</a:t>
            </a:r>
            <a:br>
              <a:rPr lang="zh-CN" altLang="en-US" sz="4400" b="1" dirty="0">
                <a:solidFill>
                  <a:srgbClr val="FFC000"/>
                </a:solidFill>
                <a:latin typeface="DFKai-SB" panose="03000509000000000000" pitchFamily="65" charset="-120"/>
                <a:ea typeface="DFKai-SB" panose="03000509000000000000" pitchFamily="65" charset="-120"/>
                <a:sym typeface="+mn-ea"/>
              </a:rPr>
            </a:br>
            <a:r>
              <a:rPr lang="en-US" altLang="zh-CN" sz="4400" b="1" dirty="0">
                <a:solidFill>
                  <a:srgbClr val="FFC000"/>
                </a:solidFill>
                <a:latin typeface="DFKai-SB" panose="03000509000000000000" pitchFamily="65" charset="-120"/>
                <a:ea typeface="DFKai-SB" panose="03000509000000000000" pitchFamily="65" charset="-120"/>
                <a:sym typeface="+mn-ea"/>
              </a:rPr>
              <a:t>William</a:t>
            </a:r>
            <a:r>
              <a:rPr lang="zh-CN" altLang="en-US" sz="4400" b="1" dirty="0">
                <a:solidFill>
                  <a:srgbClr val="FFC000"/>
                </a:solidFill>
                <a:latin typeface="DFKai-SB" panose="03000509000000000000" pitchFamily="65" charset="-120"/>
                <a:ea typeface="DFKai-SB" panose="03000509000000000000" pitchFamily="65" charset="-120"/>
                <a:sym typeface="+mn-ea"/>
              </a:rPr>
              <a:t>分享</a:t>
            </a:r>
            <a:endParaRPr lang="en-US" sz="4400" b="1" dirty="0">
              <a:solidFill>
                <a:srgbClr val="FFC000"/>
              </a:solidFill>
              <a:latin typeface="DFKai-SB" panose="03000509000000000000" pitchFamily="65" charset="-120"/>
              <a:ea typeface="DFKai-SB" panose="03000509000000000000" pitchFamily="65" charset="-120"/>
            </a:endParaRPr>
          </a:p>
          <a:p>
            <a:pPr algn="ctr"/>
            <a:r>
              <a:rPr lang="en-US" sz="4400" b="1">
                <a:solidFill>
                  <a:srgbClr val="FFC000"/>
                </a:solidFill>
                <a:latin typeface="DFKai-SB" panose="03000509000000000000" pitchFamily="65" charset="-120"/>
                <a:ea typeface="DFKai-SB" panose="03000509000000000000" pitchFamily="65" charset="-120"/>
              </a:rPr>
              <a:t>08-01-2026</a:t>
            </a:r>
            <a:endParaRPr lang="en-US" sz="4400" b="1" dirty="0">
              <a:solidFill>
                <a:srgbClr val="FFC000"/>
              </a:solidFill>
              <a:latin typeface="DFKai-SB" panose="03000509000000000000" pitchFamily="65" charset="-120"/>
              <a:ea typeface="DFKai-SB" panose="03000509000000000000" pitchFamily="65" charset="-120"/>
            </a:endParaRPr>
          </a:p>
        </p:txBody>
      </p:sp>
      <p:sp>
        <p:nvSpPr>
          <p:cNvPr id="8" name="Text Box 7"/>
          <p:cNvSpPr txBox="1"/>
          <p:nvPr/>
        </p:nvSpPr>
        <p:spPr>
          <a:xfrm>
            <a:off x="876300" y="2642235"/>
            <a:ext cx="4064000" cy="368300"/>
          </a:xfrm>
          <a:prstGeom prst="rect">
            <a:avLst/>
          </a:prstGeom>
          <a:noFill/>
        </p:spPr>
        <p:txBody>
          <a:bodyPr wrap="square" rtlCol="0">
            <a:spAutoFit/>
          </a:bodyPr>
          <a:lstStyle/>
          <a:p>
            <a:endParaRPr lang="en-US"/>
          </a:p>
        </p:txBody>
      </p:sp>
      <p:sp>
        <p:nvSpPr>
          <p:cNvPr id="4" name="Text Box 3"/>
          <p:cNvSpPr txBox="1"/>
          <p:nvPr/>
        </p:nvSpPr>
        <p:spPr>
          <a:xfrm>
            <a:off x="974431" y="4062570"/>
            <a:ext cx="5558984" cy="368300"/>
          </a:xfrm>
          <a:prstGeom prst="rect">
            <a:avLst/>
          </a:prstGeom>
          <a:noFill/>
        </p:spPr>
        <p:txBody>
          <a:bodyPr wrap="square" rtlCol="0" anchor="t">
            <a:noAutofit/>
          </a:bodyPr>
          <a:lstStyle/>
          <a:p>
            <a:pPr algn="ctr"/>
            <a:r>
              <a:rPr lang="en-US" altLang="en-US" dirty="0"/>
              <a:t>https://</a:t>
            </a:r>
            <a:r>
              <a:rPr lang="en-US" altLang="en-US" dirty="0" err="1"/>
              <a:t>www.youtube.com</a:t>
            </a:r>
            <a:r>
              <a:rPr lang="en-US" altLang="en-US" dirty="0"/>
              <a:t>/</a:t>
            </a:r>
            <a:r>
              <a:rPr lang="en-US" altLang="en-US" dirty="0" err="1"/>
              <a:t>watch?v</a:t>
            </a:r>
            <a:r>
              <a:rPr lang="en-US" altLang="en-US" dirty="0"/>
              <a:t>=oK3JOfPFuGw</a:t>
            </a:r>
          </a:p>
        </p:txBody>
      </p:sp>
      <p:pic>
        <p:nvPicPr>
          <p:cNvPr id="10" name="Picture 9">
            <a:extLst>
              <a:ext uri="{FF2B5EF4-FFF2-40B4-BE49-F238E27FC236}">
                <a16:creationId xmlns:a16="http://schemas.microsoft.com/office/drawing/2014/main" id="{53BDC425-8BD2-24FA-3091-8B01D831E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9" y="0"/>
            <a:ext cx="6920224" cy="39239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Time of the Story</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p:txBody>
          <a:bodyPr/>
          <a:lstStyle/>
          <a:p>
            <a:r>
              <a:rPr lang="en-US" b="0" i="0" dirty="0">
                <a:solidFill>
                  <a:srgbClr val="1B1B1B"/>
                </a:solidFill>
                <a:effectLst/>
                <a:latin typeface="Graphik Web"/>
              </a:rPr>
              <a:t>Around 475 BC: The story is set over 100 years after the Babylonian exile of the Israelites from their land in 586 BC.</a:t>
            </a:r>
            <a:br>
              <a:rPr lang="en-US" b="0" i="0" dirty="0">
                <a:solidFill>
                  <a:srgbClr val="1B1B1B"/>
                </a:solidFill>
                <a:effectLst/>
                <a:latin typeface="Graphik Web"/>
              </a:rPr>
            </a:br>
            <a:endParaRPr lang="en-US" b="0" i="0" dirty="0">
              <a:solidFill>
                <a:srgbClr val="1B1B1B"/>
              </a:solidFill>
              <a:effectLst/>
              <a:latin typeface="Graphik Web"/>
            </a:endParaRPr>
          </a:p>
          <a:p>
            <a:r>
              <a:rPr lang="en-US" b="0" i="0" dirty="0">
                <a:solidFill>
                  <a:srgbClr val="1B1B1B"/>
                </a:solidFill>
                <a:effectLst/>
                <a:latin typeface="Graphik Web"/>
              </a:rPr>
              <a:t>While some Jews did return to Jerusalem (see </a:t>
            </a:r>
            <a:r>
              <a:rPr lang="en-US" b="0" i="0" u="sng" dirty="0">
                <a:effectLst/>
                <a:latin typeface="Graphik Web"/>
                <a:hlinkClick r:id="rId2"/>
              </a:rPr>
              <a:t>Ezra-Nehemiah</a:t>
            </a:r>
            <a:r>
              <a:rPr lang="en-US" b="0" i="0" dirty="0">
                <a:solidFill>
                  <a:srgbClr val="1B1B1B"/>
                </a:solidFill>
                <a:effectLst/>
                <a:latin typeface="Graphik Web"/>
              </a:rPr>
              <a:t>), many did not. The book of Esther is about a Jewish community living in Susa (Shushan), the capital city of the ancient Persian empire. </a:t>
            </a:r>
            <a:endParaRPr lang="en-US" dirty="0"/>
          </a:p>
        </p:txBody>
      </p:sp>
    </p:spTree>
    <p:extLst>
      <p:ext uri="{BB962C8B-B14F-4D97-AF65-F5344CB8AC3E}">
        <p14:creationId xmlns:p14="http://schemas.microsoft.com/office/powerpoint/2010/main" val="89341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rsian Empire at Time of Esther Map image">
            <a:extLst>
              <a:ext uri="{FF2B5EF4-FFF2-40B4-BE49-F238E27FC236}">
                <a16:creationId xmlns:a16="http://schemas.microsoft.com/office/drawing/2014/main" id="{8CF84CA4-1C87-4EC5-7BF8-69C772CDD1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75" y="0"/>
            <a:ext cx="10563225" cy="6858000"/>
          </a:xfrm>
          <a:prstGeom prst="rect">
            <a:avLst/>
          </a:prstGeom>
          <a:solidFill>
            <a:schemeClr val="bg1"/>
          </a:solidFill>
          <a:ln>
            <a:solidFill>
              <a:schemeClr val="tx1"/>
            </a:solidFill>
          </a:ln>
        </p:spPr>
      </p:pic>
      <p:sp>
        <p:nvSpPr>
          <p:cNvPr id="5" name="TextBox 4">
            <a:extLst>
              <a:ext uri="{FF2B5EF4-FFF2-40B4-BE49-F238E27FC236}">
                <a16:creationId xmlns:a16="http://schemas.microsoft.com/office/drawing/2014/main" id="{41F3E7F3-E7B0-B09B-6C12-7AF2BB4574B2}"/>
              </a:ext>
            </a:extLst>
          </p:cNvPr>
          <p:cNvSpPr txBox="1"/>
          <p:nvPr/>
        </p:nvSpPr>
        <p:spPr>
          <a:xfrm>
            <a:off x="14287" y="5252383"/>
            <a:ext cx="1614488" cy="954107"/>
          </a:xfrm>
          <a:prstGeom prst="rect">
            <a:avLst/>
          </a:prstGeom>
          <a:solidFill>
            <a:schemeClr val="bg1"/>
          </a:solidFill>
          <a:ln w="25400">
            <a:solidFill>
              <a:schemeClr val="tx1"/>
            </a:solidFill>
          </a:ln>
        </p:spPr>
        <p:txBody>
          <a:bodyPr wrap="square" rtlCol="0">
            <a:spAutoFit/>
          </a:bodyPr>
          <a:lstStyle/>
          <a:p>
            <a:pPr algn="ctr"/>
            <a:r>
              <a:rPr lang="en-US" sz="2800" u="sng" dirty="0"/>
              <a:t>Shushan</a:t>
            </a:r>
          </a:p>
          <a:p>
            <a:pPr algn="ctr"/>
            <a:r>
              <a:rPr lang="en-US" sz="2800" u="sng" dirty="0"/>
              <a:t>City</a:t>
            </a:r>
          </a:p>
        </p:txBody>
      </p:sp>
      <p:cxnSp>
        <p:nvCxnSpPr>
          <p:cNvPr id="7" name="Straight Connector 6">
            <a:extLst>
              <a:ext uri="{FF2B5EF4-FFF2-40B4-BE49-F238E27FC236}">
                <a16:creationId xmlns:a16="http://schemas.microsoft.com/office/drawing/2014/main" id="{B78B6D77-E781-5390-84E0-FC12E3B0315B}"/>
              </a:ext>
            </a:extLst>
          </p:cNvPr>
          <p:cNvCxnSpPr>
            <a:cxnSpLocks/>
            <a:stCxn id="5" idx="3"/>
          </p:cNvCxnSpPr>
          <p:nvPr/>
        </p:nvCxnSpPr>
        <p:spPr bwMode="auto">
          <a:xfrm flipV="1">
            <a:off x="1628775" y="3971925"/>
            <a:ext cx="5281612" cy="1757512"/>
          </a:xfrm>
          <a:prstGeom prst="line">
            <a:avLst/>
          </a:prstGeom>
          <a:gradFill rotWithShape="0">
            <a:gsLst>
              <a:gs pos="0">
                <a:schemeClr val="accent1"/>
              </a:gs>
              <a:gs pos="100000">
                <a:schemeClr val="accent2"/>
              </a:gs>
            </a:gsLst>
            <a:lin ang="5400000" scaled="1"/>
          </a:gradFill>
          <a:ln w="25400" cap="flat" cmpd="sng" algn="ctr">
            <a:solidFill>
              <a:schemeClr val="tx1"/>
            </a:solidFill>
            <a:prstDash val="dash"/>
            <a:round/>
            <a:headEnd type="none" w="med" len="med"/>
            <a:tailEnd type="none" w="med" len="med"/>
          </a:ln>
        </p:spPr>
      </p:cxnSp>
      <p:sp>
        <p:nvSpPr>
          <p:cNvPr id="10" name="TextBox 9">
            <a:extLst>
              <a:ext uri="{FF2B5EF4-FFF2-40B4-BE49-F238E27FC236}">
                <a16:creationId xmlns:a16="http://schemas.microsoft.com/office/drawing/2014/main" id="{377BC85D-ED5E-EBEF-722D-46523BDEE0AB}"/>
              </a:ext>
            </a:extLst>
          </p:cNvPr>
          <p:cNvSpPr txBox="1"/>
          <p:nvPr/>
        </p:nvSpPr>
        <p:spPr>
          <a:xfrm>
            <a:off x="14287" y="367070"/>
            <a:ext cx="1343025" cy="646331"/>
          </a:xfrm>
          <a:prstGeom prst="rect">
            <a:avLst/>
          </a:prstGeom>
          <a:noFill/>
        </p:spPr>
        <p:txBody>
          <a:bodyPr wrap="square" rtlCol="0">
            <a:spAutoFit/>
          </a:bodyPr>
          <a:lstStyle/>
          <a:p>
            <a:r>
              <a:rPr lang="en-US" dirty="0"/>
              <a:t>Location of the Story</a:t>
            </a:r>
          </a:p>
        </p:txBody>
      </p:sp>
      <p:sp>
        <p:nvSpPr>
          <p:cNvPr id="14" name="TextBox 13">
            <a:extLst>
              <a:ext uri="{FF2B5EF4-FFF2-40B4-BE49-F238E27FC236}">
                <a16:creationId xmlns:a16="http://schemas.microsoft.com/office/drawing/2014/main" id="{86C6638A-227E-2E43-69EA-74689859D606}"/>
              </a:ext>
            </a:extLst>
          </p:cNvPr>
          <p:cNvSpPr txBox="1"/>
          <p:nvPr/>
        </p:nvSpPr>
        <p:spPr>
          <a:xfrm>
            <a:off x="2057400" y="6488668"/>
            <a:ext cx="8943975" cy="369332"/>
          </a:xfrm>
          <a:prstGeom prst="rect">
            <a:avLst/>
          </a:prstGeom>
          <a:noFill/>
        </p:spPr>
        <p:txBody>
          <a:bodyPr wrap="square" rtlCol="0">
            <a:spAutoFit/>
          </a:bodyPr>
          <a:lstStyle/>
          <a:p>
            <a:r>
              <a:rPr lang="en-US" dirty="0"/>
              <a:t>https://</a:t>
            </a:r>
            <a:r>
              <a:rPr lang="en-US" dirty="0" err="1"/>
              <a:t>history.kidsbiblemaps.com</a:t>
            </a:r>
            <a:r>
              <a:rPr lang="en-US" dirty="0"/>
              <a:t>/geography/</a:t>
            </a:r>
            <a:r>
              <a:rPr lang="en-US" dirty="0" err="1"/>
              <a:t>persian</a:t>
            </a:r>
            <a:r>
              <a:rPr lang="en-US" dirty="0"/>
              <a:t>-empire-at-time-of-</a:t>
            </a:r>
            <a:r>
              <a:rPr lang="en-US" dirty="0" err="1"/>
              <a:t>esther</a:t>
            </a:r>
            <a:r>
              <a:rPr lang="en-US" dirty="0"/>
              <a:t>-map</a:t>
            </a:r>
          </a:p>
        </p:txBody>
      </p:sp>
    </p:spTree>
    <p:extLst>
      <p:ext uri="{BB962C8B-B14F-4D97-AF65-F5344CB8AC3E}">
        <p14:creationId xmlns:p14="http://schemas.microsoft.com/office/powerpoint/2010/main" val="3877810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7000E64E-CF1C-295C-23A4-8273F1B03026}"/>
              </a:ext>
            </a:extLst>
          </p:cNvPr>
          <p:cNvSpPr>
            <a:spLocks noGrp="1"/>
          </p:cNvSpPr>
          <p:nvPr>
            <p:ph idx="1"/>
          </p:nvPr>
        </p:nvSpPr>
        <p:spPr>
          <a:xfrm>
            <a:off x="1616684" y="4961834"/>
            <a:ext cx="9894277" cy="1538979"/>
          </a:xfrm>
        </p:spPr>
        <p:txBody>
          <a:bodyPr/>
          <a:lstStyle/>
          <a:p>
            <a:pPr algn="ctr"/>
            <a:r>
              <a:rPr lang="en-US" altLang="en-US" sz="1600" dirty="0">
                <a:hlinkClick r:id="rId2"/>
              </a:rPr>
              <a:t>https://</a:t>
            </a:r>
            <a:r>
              <a:rPr lang="en-US" altLang="en-US" sz="1600" dirty="0" err="1">
                <a:hlinkClick r:id="rId2"/>
              </a:rPr>
              <a:t>www.youtube.com</a:t>
            </a:r>
            <a:r>
              <a:rPr lang="en-US" altLang="en-US" sz="1600" dirty="0">
                <a:hlinkClick r:id="rId2"/>
              </a:rPr>
              <a:t>/</a:t>
            </a:r>
            <a:r>
              <a:rPr lang="en-US" altLang="en-US" sz="1600" dirty="0" err="1">
                <a:hlinkClick r:id="rId2"/>
              </a:rPr>
              <a:t>watch?v</a:t>
            </a:r>
            <a:r>
              <a:rPr lang="en-US" altLang="en-US" sz="1600" dirty="0">
                <a:hlinkClick r:id="rId2"/>
              </a:rPr>
              <a:t>=oK3JOfPFuGw</a:t>
            </a:r>
            <a:endParaRPr lang="en-US" altLang="en-US" sz="1600" dirty="0"/>
          </a:p>
          <a:p>
            <a:pPr algn="ctr"/>
            <a:r>
              <a:rPr lang="en-US" dirty="0"/>
              <a:t>Persia King Xerxes’ Power.</a:t>
            </a:r>
          </a:p>
        </p:txBody>
      </p:sp>
      <p:pic>
        <p:nvPicPr>
          <p:cNvPr id="5" name="Picture 4">
            <a:extLst>
              <a:ext uri="{FF2B5EF4-FFF2-40B4-BE49-F238E27FC236}">
                <a16:creationId xmlns:a16="http://schemas.microsoft.com/office/drawing/2014/main" id="{BEC5901A-59A7-E7FA-4502-1C39B1CD6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601986"/>
            <a:ext cx="7772400" cy="4359848"/>
          </a:xfrm>
          <a:prstGeom prst="rect">
            <a:avLst/>
          </a:prstGeom>
        </p:spPr>
      </p:pic>
    </p:spTree>
    <p:extLst>
      <p:ext uri="{BB962C8B-B14F-4D97-AF65-F5344CB8AC3E}">
        <p14:creationId xmlns:p14="http://schemas.microsoft.com/office/powerpoint/2010/main" val="962262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chemeClr val="accent1">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7000E64E-CF1C-295C-23A4-8273F1B03026}"/>
              </a:ext>
            </a:extLst>
          </p:cNvPr>
          <p:cNvSpPr>
            <a:spLocks noGrp="1"/>
          </p:cNvSpPr>
          <p:nvPr>
            <p:ph idx="1"/>
          </p:nvPr>
        </p:nvSpPr>
        <p:spPr>
          <a:xfrm>
            <a:off x="1616684" y="4961834"/>
            <a:ext cx="9894277" cy="1538979"/>
          </a:xfrm>
        </p:spPr>
        <p:txBody>
          <a:bodyPr/>
          <a:lstStyle/>
          <a:p>
            <a:pPr algn="ctr"/>
            <a:r>
              <a:rPr lang="en-US" altLang="en-US" sz="1600" dirty="0">
                <a:hlinkClick r:id="rId2"/>
              </a:rPr>
              <a:t>https://</a:t>
            </a:r>
            <a:r>
              <a:rPr lang="en-US" altLang="en-US" sz="1600" dirty="0" err="1">
                <a:hlinkClick r:id="rId2"/>
              </a:rPr>
              <a:t>www.youtube.com</a:t>
            </a:r>
            <a:r>
              <a:rPr lang="en-US" altLang="en-US" sz="1600" dirty="0">
                <a:hlinkClick r:id="rId2"/>
              </a:rPr>
              <a:t>/</a:t>
            </a:r>
            <a:r>
              <a:rPr lang="en-US" altLang="en-US" sz="1600" dirty="0" err="1">
                <a:hlinkClick r:id="rId2"/>
              </a:rPr>
              <a:t>watch?v</a:t>
            </a:r>
            <a:r>
              <a:rPr lang="en-US" altLang="en-US" sz="1600" dirty="0">
                <a:hlinkClick r:id="rId2"/>
              </a:rPr>
              <a:t>=oK3JOfPFuGw</a:t>
            </a:r>
            <a:endParaRPr lang="en-US" altLang="en-US" sz="1600" dirty="0"/>
          </a:p>
          <a:p>
            <a:pPr algn="ctr"/>
            <a:r>
              <a:rPr lang="en-US" dirty="0"/>
              <a:t>Persia King Xerxes’ Glory.</a:t>
            </a:r>
          </a:p>
        </p:txBody>
      </p:sp>
      <p:pic>
        <p:nvPicPr>
          <p:cNvPr id="3" name="Picture 2">
            <a:hlinkClick r:id="rId2"/>
            <a:extLst>
              <a:ext uri="{FF2B5EF4-FFF2-40B4-BE49-F238E27FC236}">
                <a16:creationId xmlns:a16="http://schemas.microsoft.com/office/drawing/2014/main" id="{4F7FDAFD-4D76-4F78-4268-F10582442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9373" y="357187"/>
            <a:ext cx="7772400" cy="43743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7000E64E-CF1C-295C-23A4-8273F1B03026}"/>
              </a:ext>
            </a:extLst>
          </p:cNvPr>
          <p:cNvSpPr>
            <a:spLocks noGrp="1"/>
          </p:cNvSpPr>
          <p:nvPr>
            <p:ph idx="1"/>
          </p:nvPr>
        </p:nvSpPr>
        <p:spPr>
          <a:xfrm>
            <a:off x="1616684" y="4961834"/>
            <a:ext cx="9894277" cy="1538979"/>
          </a:xfrm>
        </p:spPr>
        <p:txBody>
          <a:bodyPr/>
          <a:lstStyle/>
          <a:p>
            <a:pPr algn="ctr"/>
            <a:r>
              <a:rPr lang="en-US" altLang="en-US" sz="1600" dirty="0">
                <a:hlinkClick r:id="rId2"/>
              </a:rPr>
              <a:t>https://</a:t>
            </a:r>
            <a:r>
              <a:rPr lang="en-US" altLang="en-US" sz="1600" dirty="0" err="1">
                <a:hlinkClick r:id="rId2"/>
              </a:rPr>
              <a:t>www.youtube.com</a:t>
            </a:r>
            <a:r>
              <a:rPr lang="en-US" altLang="en-US" sz="1600" dirty="0">
                <a:hlinkClick r:id="rId2"/>
              </a:rPr>
              <a:t>/</a:t>
            </a:r>
            <a:r>
              <a:rPr lang="en-US" altLang="en-US" sz="1600" dirty="0" err="1">
                <a:hlinkClick r:id="rId2"/>
              </a:rPr>
              <a:t>watch?v</a:t>
            </a:r>
            <a:r>
              <a:rPr lang="en-US" altLang="en-US" sz="1600" dirty="0">
                <a:hlinkClick r:id="rId2"/>
              </a:rPr>
              <a:t>=oK3JOfPFuGw</a:t>
            </a:r>
            <a:endParaRPr lang="en-US" altLang="en-US" sz="1600" dirty="0"/>
          </a:p>
          <a:p>
            <a:pPr algn="ctr"/>
            <a:r>
              <a:rPr lang="en-US" dirty="0"/>
              <a:t>Persia King Xerxes’ Love of its People.</a:t>
            </a:r>
          </a:p>
        </p:txBody>
      </p:sp>
      <p:pic>
        <p:nvPicPr>
          <p:cNvPr id="4" name="Picture 3">
            <a:extLst>
              <a:ext uri="{FF2B5EF4-FFF2-40B4-BE49-F238E27FC236}">
                <a16:creationId xmlns:a16="http://schemas.microsoft.com/office/drawing/2014/main" id="{9A1531A9-D124-7B86-D752-168ED7CA5E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8888" y="638029"/>
            <a:ext cx="7772400" cy="4323805"/>
          </a:xfrm>
          <a:prstGeom prst="rect">
            <a:avLst/>
          </a:prstGeom>
        </p:spPr>
      </p:pic>
    </p:spTree>
    <p:extLst>
      <p:ext uri="{BB962C8B-B14F-4D97-AF65-F5344CB8AC3E}">
        <p14:creationId xmlns:p14="http://schemas.microsoft.com/office/powerpoint/2010/main" val="263199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How Strong our Enemy Is: </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609600" y="1174750"/>
            <a:ext cx="10972800" cy="5283200"/>
          </a:xfrm>
        </p:spPr>
        <p:txBody>
          <a:bodyPr/>
          <a:lstStyle/>
          <a:p>
            <a:r>
              <a:rPr lang="en-US" altLang="ja-JP" b="0" i="0" dirty="0">
                <a:solidFill>
                  <a:srgbClr val="1B1B1B"/>
                </a:solidFill>
                <a:effectLst/>
                <a:latin typeface="Graphik Web"/>
              </a:rPr>
              <a:t>"See how my enemies have increased and how fiercely they hate me!" (Psm25:19 NIV) "</a:t>
            </a:r>
            <a:r>
              <a:rPr lang="ja-JP" altLang="en-US" b="0" i="0">
                <a:solidFill>
                  <a:srgbClr val="1B1B1B"/>
                </a:solidFill>
                <a:effectLst/>
                <a:latin typeface="Graphik Web"/>
              </a:rPr>
              <a:t>求你察看我的仇敌、因为</a:t>
            </a:r>
            <a:r>
              <a:rPr lang="ja-JP" altLang="en-US" b="1" i="1">
                <a:solidFill>
                  <a:srgbClr val="FF0000"/>
                </a:solidFill>
                <a:effectLst/>
                <a:latin typeface="Graphik Web"/>
              </a:rPr>
              <a:t>他们人多</a:t>
            </a:r>
            <a:r>
              <a:rPr lang="ja-JP" altLang="en-US" b="0" i="0">
                <a:solidFill>
                  <a:srgbClr val="1B1B1B"/>
                </a:solidFill>
                <a:effectLst/>
                <a:latin typeface="Graphik Web"/>
              </a:rPr>
              <a:t>．并且痛痛的恨我。</a:t>
            </a:r>
            <a:r>
              <a:rPr lang="en-US" altLang="ja-JP" b="0" i="0" dirty="0">
                <a:solidFill>
                  <a:srgbClr val="1B1B1B"/>
                </a:solidFill>
                <a:effectLst/>
                <a:latin typeface="Graphik Web"/>
              </a:rPr>
              <a:t>" (</a:t>
            </a:r>
            <a:r>
              <a:rPr lang="en-US" b="0" i="0" dirty="0">
                <a:solidFill>
                  <a:srgbClr val="1B1B1B"/>
                </a:solidFill>
                <a:effectLst/>
                <a:latin typeface="Graphik Web"/>
              </a:rPr>
              <a:t>Psm25:19 CUVS)</a:t>
            </a:r>
          </a:p>
          <a:p>
            <a:r>
              <a:rPr lang="en-US" altLang="ja-JP" b="0" i="0" dirty="0">
                <a:solidFill>
                  <a:srgbClr val="1B1B1B"/>
                </a:solidFill>
                <a:effectLst/>
                <a:latin typeface="Graphik Web"/>
              </a:rPr>
              <a:t>"Many are those who are my vigorous enemies; those who hate me without reason are numerous." (Psm38:19 NIV)</a:t>
            </a:r>
            <a:r>
              <a:rPr lang="ja-JP" altLang="en-US" b="0" i="0">
                <a:solidFill>
                  <a:srgbClr val="1B1B1B"/>
                </a:solidFill>
                <a:effectLst/>
                <a:latin typeface="Graphik Web"/>
              </a:rPr>
              <a:t>但</a:t>
            </a:r>
            <a:r>
              <a:rPr lang="ja-JP" altLang="en-US" b="0" i="0">
                <a:solidFill>
                  <a:srgbClr val="FF0000"/>
                </a:solidFill>
                <a:effectLst/>
                <a:latin typeface="Graphik Web"/>
              </a:rPr>
              <a:t>我的</a:t>
            </a:r>
            <a:r>
              <a:rPr lang="ja-JP" altLang="en-US" b="1" i="1">
                <a:solidFill>
                  <a:srgbClr val="FF0000"/>
                </a:solidFill>
                <a:effectLst/>
                <a:latin typeface="Graphik Web"/>
              </a:rPr>
              <a:t>仇敌又活泼又强壮</a:t>
            </a:r>
            <a:r>
              <a:rPr lang="ja-JP" altLang="en-US" b="0" i="0">
                <a:solidFill>
                  <a:srgbClr val="1B1B1B"/>
                </a:solidFill>
                <a:effectLst/>
                <a:latin typeface="Graphik Web"/>
              </a:rPr>
              <a:t>．无理恨我的增多了。</a:t>
            </a:r>
            <a:r>
              <a:rPr lang="en-US" altLang="ja-JP" b="0" i="0" dirty="0">
                <a:solidFill>
                  <a:srgbClr val="1B1B1B"/>
                </a:solidFill>
                <a:effectLst/>
                <a:latin typeface="Graphik Web"/>
              </a:rPr>
              <a:t>" (</a:t>
            </a:r>
            <a:r>
              <a:rPr lang="en-US" b="0" i="0" dirty="0">
                <a:solidFill>
                  <a:srgbClr val="1B1B1B"/>
                </a:solidFill>
                <a:effectLst/>
                <a:latin typeface="Graphik Web"/>
              </a:rPr>
              <a:t>Psm38:19 CUVS)</a:t>
            </a:r>
          </a:p>
          <a:p>
            <a:r>
              <a:rPr lang="en-US" altLang="ja-JP" b="0" i="0" dirty="0">
                <a:solidFill>
                  <a:srgbClr val="1B1B1B"/>
                </a:solidFill>
                <a:effectLst/>
                <a:latin typeface="Graphik Web"/>
              </a:rPr>
              <a:t>"See how your enemies are astir, how your foes rear their heads." (Psm83:2 NIV)"</a:t>
            </a:r>
            <a:r>
              <a:rPr lang="ja-JP" altLang="en-US" b="0" i="0">
                <a:solidFill>
                  <a:srgbClr val="1B1B1B"/>
                </a:solidFill>
                <a:effectLst/>
                <a:latin typeface="Graphik Web"/>
              </a:rPr>
              <a:t>因为</a:t>
            </a:r>
            <a:r>
              <a:rPr lang="ja-JP" altLang="en-US" b="0" i="0">
                <a:solidFill>
                  <a:srgbClr val="FF0000"/>
                </a:solidFill>
                <a:effectLst/>
                <a:latin typeface="Graphik Web"/>
              </a:rPr>
              <a:t>你的仇敌喧嚷</a:t>
            </a:r>
            <a:r>
              <a:rPr lang="ja-JP" altLang="en-US" b="0" i="0">
                <a:solidFill>
                  <a:srgbClr val="1B1B1B"/>
                </a:solidFill>
                <a:effectLst/>
                <a:latin typeface="Graphik Web"/>
              </a:rPr>
              <a:t>．</a:t>
            </a:r>
            <a:r>
              <a:rPr lang="ja-JP" altLang="en-US" b="1" i="1">
                <a:solidFill>
                  <a:srgbClr val="FF0000"/>
                </a:solidFill>
                <a:effectLst/>
                <a:latin typeface="Graphik Web"/>
              </a:rPr>
              <a:t>恨你的抬起头来</a:t>
            </a:r>
            <a:r>
              <a:rPr lang="ja-JP" altLang="en-US" b="0" i="0">
                <a:solidFill>
                  <a:srgbClr val="1B1B1B"/>
                </a:solidFill>
                <a:effectLst/>
                <a:latin typeface="Graphik Web"/>
              </a:rPr>
              <a:t>。</a:t>
            </a:r>
            <a:r>
              <a:rPr lang="en-US" altLang="ja-JP" b="0" i="0" dirty="0">
                <a:solidFill>
                  <a:srgbClr val="1B1B1B"/>
                </a:solidFill>
                <a:effectLst/>
                <a:latin typeface="Graphik Web"/>
              </a:rPr>
              <a:t>" (</a:t>
            </a:r>
            <a:r>
              <a:rPr lang="en-US" b="0" i="0" dirty="0">
                <a:solidFill>
                  <a:srgbClr val="1B1B1B"/>
                </a:solidFill>
                <a:effectLst/>
                <a:latin typeface="Graphik Web"/>
              </a:rPr>
              <a:t>Psm83:2 CUVS). </a:t>
            </a:r>
            <a:endParaRPr lang="en-US" dirty="0"/>
          </a:p>
        </p:txBody>
      </p:sp>
    </p:spTree>
    <p:extLst>
      <p:ext uri="{BB962C8B-B14F-4D97-AF65-F5344CB8AC3E}">
        <p14:creationId xmlns:p14="http://schemas.microsoft.com/office/powerpoint/2010/main" val="3241902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How Weak We Are: </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0" y="787400"/>
            <a:ext cx="12192000" cy="6070600"/>
          </a:xfrm>
        </p:spPr>
        <p:txBody>
          <a:bodyPr/>
          <a:lstStyle/>
          <a:p>
            <a:r>
              <a:rPr lang="en-US" altLang="ja-JP" b="0" i="0" dirty="0">
                <a:solidFill>
                  <a:srgbClr val="1B1B1B"/>
                </a:solidFill>
                <a:effectLst/>
                <a:latin typeface="Graphik Web"/>
              </a:rPr>
              <a:t>"How long must I wrestle with my thoughts and every day have sorrow in my heart? How long will my enemy triumph over me?" (Psm13:2 NIV)"</a:t>
            </a:r>
            <a:r>
              <a:rPr lang="ja-JP" altLang="en-US" b="0" i="0">
                <a:solidFill>
                  <a:srgbClr val="1B1B1B"/>
                </a:solidFill>
                <a:effectLst/>
                <a:latin typeface="Graphik Web"/>
              </a:rPr>
              <a:t>我心里筹算、终日愁苦、要到几时呢．我的仇敌升高压制我、要到几时呢。</a:t>
            </a:r>
            <a:r>
              <a:rPr lang="en-US" altLang="ja-JP" b="0" i="0" dirty="0">
                <a:solidFill>
                  <a:srgbClr val="1B1B1B"/>
                </a:solidFill>
                <a:effectLst/>
                <a:latin typeface="Graphik Web"/>
              </a:rPr>
              <a:t>" (Psm13:2 CUVS)</a:t>
            </a:r>
          </a:p>
          <a:p>
            <a:r>
              <a:rPr lang="en-US" altLang="ja-JP" b="0" i="0" dirty="0">
                <a:solidFill>
                  <a:srgbClr val="1B1B1B"/>
                </a:solidFill>
                <a:effectLst/>
                <a:latin typeface="Graphik Web"/>
              </a:rPr>
              <a:t>"then let my enemy pursue and overtake me; let him trample my life to the ground and make me sleep in the dust. Selah" (Psm7:5 NIV)"</a:t>
            </a:r>
            <a:r>
              <a:rPr lang="ja-JP" altLang="en-US" b="0" i="0">
                <a:solidFill>
                  <a:srgbClr val="1B1B1B"/>
                </a:solidFill>
                <a:effectLst/>
                <a:latin typeface="Graphik Web"/>
              </a:rPr>
              <a:t>就任凭仇敌追赶我、直到追上．将我的性命踏在地下、使我的荣耀归于灰尘。</a:t>
            </a:r>
            <a:r>
              <a:rPr lang="en-US" altLang="ja-JP" b="0" i="0" dirty="0">
                <a:solidFill>
                  <a:srgbClr val="1B1B1B"/>
                </a:solidFill>
                <a:effectLst/>
                <a:latin typeface="Graphik Web"/>
              </a:rPr>
              <a:t>〔</a:t>
            </a:r>
            <a:r>
              <a:rPr lang="ja-JP" altLang="en-US" b="0" i="0">
                <a:solidFill>
                  <a:srgbClr val="1B1B1B"/>
                </a:solidFill>
                <a:effectLst/>
                <a:latin typeface="Graphik Web"/>
              </a:rPr>
              <a:t>细拉</a:t>
            </a:r>
            <a:r>
              <a:rPr lang="en-US" altLang="ja-JP" b="0" i="0" dirty="0">
                <a:solidFill>
                  <a:srgbClr val="1B1B1B"/>
                </a:solidFill>
                <a:effectLst/>
                <a:latin typeface="Graphik Web"/>
              </a:rPr>
              <a:t>〕" (Psm7:5 CUVS)</a:t>
            </a:r>
          </a:p>
          <a:p>
            <a:r>
              <a:rPr lang="en-US" altLang="ja-JP" b="0" i="0" dirty="0">
                <a:solidFill>
                  <a:srgbClr val="1B1B1B"/>
                </a:solidFill>
                <a:effectLst/>
                <a:latin typeface="Graphik Web"/>
              </a:rPr>
              <a:t>"Lead me, O Lord , in your righteousness because of my enemies make straight your way before me." (Psm5:8 NIV) "</a:t>
            </a:r>
            <a:r>
              <a:rPr lang="ja-JP" altLang="en-US" b="0" i="0">
                <a:solidFill>
                  <a:srgbClr val="1B1B1B"/>
                </a:solidFill>
                <a:effectLst/>
                <a:latin typeface="Graphik Web"/>
              </a:rPr>
              <a:t>耶和华阿、求你因我的仇敌、凭你的公义、引领我．使你的道路在我面前正直。</a:t>
            </a:r>
            <a:r>
              <a:rPr lang="en-US" altLang="ja-JP" b="0" i="0" dirty="0">
                <a:solidFill>
                  <a:srgbClr val="1B1B1B"/>
                </a:solidFill>
                <a:effectLst/>
                <a:latin typeface="Graphik Web"/>
              </a:rPr>
              <a:t>" (Psm5:8 CUVS)</a:t>
            </a:r>
            <a:endParaRPr lang="en-US" dirty="0"/>
          </a:p>
        </p:txBody>
      </p:sp>
    </p:spTree>
    <p:extLst>
      <p:ext uri="{BB962C8B-B14F-4D97-AF65-F5344CB8AC3E}">
        <p14:creationId xmlns:p14="http://schemas.microsoft.com/office/powerpoint/2010/main" val="1591622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1081385" cy="686435"/>
          </a:xfrm>
        </p:spPr>
        <p:txBody>
          <a:bodyPr/>
          <a:lstStyle/>
          <a:p>
            <a:pPr algn="ctr"/>
            <a:r>
              <a:rPr lang="zh-CN" altLang="en-US" b="1" dirty="0">
                <a:solidFill>
                  <a:srgbClr val="00B050"/>
                </a:solidFill>
                <a:latin typeface="DFKai-SB" panose="03000509000000000000" pitchFamily="65" charset="-120"/>
                <a:ea typeface="DFKai-SB" panose="03000509000000000000" pitchFamily="65" charset="-120"/>
                <a:sym typeface="+mn-ea"/>
              </a:rPr>
              <a:t>個人反思</a:t>
            </a:r>
            <a:r>
              <a:rPr lang="en-US" altLang="zh-CN" b="1" dirty="0">
                <a:solidFill>
                  <a:srgbClr val="00B050"/>
                </a:solidFill>
                <a:latin typeface="DFKai-SB" panose="03000509000000000000" pitchFamily="65" charset="-120"/>
                <a:ea typeface="DFKai-SB" panose="03000509000000000000" pitchFamily="65" charset="-120"/>
                <a:sym typeface="+mn-ea"/>
              </a:rPr>
              <a:t> </a:t>
            </a:r>
            <a:endParaRPr lang="zh-CN" altLang="en-US" sz="2400" b="1" dirty="0">
              <a:solidFill>
                <a:schemeClr val="tx1"/>
              </a:solidFill>
              <a:highlight>
                <a:srgbClr val="FFFF00"/>
              </a:highlight>
              <a:latin typeface="DFKai-SB" panose="03000509000000000000" pitchFamily="65" charset="-120"/>
              <a:ea typeface="DFKai-SB" panose="03000509000000000000" pitchFamily="65" charset="-120"/>
            </a:endParaRPr>
          </a:p>
        </p:txBody>
      </p:sp>
      <p:sp>
        <p:nvSpPr>
          <p:cNvPr id="3" name="Content Placeholder 2"/>
          <p:cNvSpPr>
            <a:spLocks noGrp="1"/>
          </p:cNvSpPr>
          <p:nvPr>
            <p:ph idx="1"/>
            <p:custDataLst>
              <p:tags r:id="rId1"/>
            </p:custDataLst>
          </p:nvPr>
        </p:nvSpPr>
        <p:spPr>
          <a:xfrm>
            <a:off x="609600" y="686435"/>
            <a:ext cx="10972800" cy="5800090"/>
          </a:xfrm>
        </p:spPr>
        <p:txBody>
          <a:bodyPr/>
          <a:lstStyle/>
          <a:p>
            <a:pPr algn="l">
              <a:buNone/>
            </a:pPr>
            <a:r>
              <a:rPr lang="en-US" altLang="zh-CN" b="1" dirty="0">
                <a:highlight>
                  <a:srgbClr val="FFFF00"/>
                </a:highlight>
                <a:latin typeface="DFKai-SB" panose="03000509000000000000" pitchFamily="65" charset="-120"/>
                <a:ea typeface="DFKai-SB" panose="03000509000000000000" pitchFamily="65" charset="-120"/>
              </a:rPr>
              <a:t>Parenting When Life is Hard</a:t>
            </a:r>
            <a:r>
              <a:rPr lang="zh-CN" altLang="en-US" sz="2800" b="1" dirty="0">
                <a:latin typeface="DFKai-SB" panose="03000509000000000000" pitchFamily="65" charset="-120"/>
                <a:ea typeface="DFKai-SB" panose="03000509000000000000" pitchFamily="65" charset="-120"/>
              </a:rPr>
              <a:t>：</a:t>
            </a:r>
            <a:r>
              <a:rPr lang="en-US" altLang="zh-CN" sz="2800" dirty="0">
                <a:sym typeface="+mn-ea"/>
              </a:rPr>
              <a:t>How to raise your child during the difficult and hopeless times? </a:t>
            </a:r>
          </a:p>
          <a:p>
            <a:pPr marL="357505" indent="-357505" algn="l">
              <a:buNone/>
            </a:pPr>
            <a:endParaRPr lang="en-US" altLang="zh-CN" sz="2800" dirty="0">
              <a:sym typeface="+mn-ea"/>
            </a:endParaRPr>
          </a:p>
          <a:p>
            <a:pPr algn="l">
              <a:buFont typeface="Wingdings" pitchFamily="2" charset="2"/>
              <a:buChar char="q"/>
            </a:pPr>
            <a:r>
              <a:rPr lang="en-US" altLang="zh-CN" sz="2800" dirty="0">
                <a:sym typeface="+mn-ea"/>
              </a:rPr>
              <a:t>Do you want your child to be a king like Xerxes? Who is not so bad though. </a:t>
            </a:r>
          </a:p>
          <a:p>
            <a:pPr algn="l">
              <a:buFont typeface="Wingdings" pitchFamily="2" charset="2"/>
              <a:buChar char="q"/>
            </a:pPr>
            <a:endParaRPr lang="en-US" altLang="zh-CN" sz="2800" dirty="0">
              <a:sym typeface="+mn-ea"/>
            </a:endParaRPr>
          </a:p>
          <a:p>
            <a:pPr algn="l">
              <a:buFont typeface="Wingdings" pitchFamily="2" charset="2"/>
              <a:buChar char="q"/>
            </a:pPr>
            <a:r>
              <a:rPr lang="en-US" altLang="zh-CN" sz="2800" dirty="0">
                <a:sym typeface="+mn-ea"/>
              </a:rPr>
              <a:t>Do you want your child to attend Harvard? To gain prestige, knowledge, fames, richness, freedom, more job opportunities, . . .</a:t>
            </a:r>
            <a:br>
              <a:rPr lang="en-US" altLang="zh-CN" sz="2800" dirty="0">
                <a:sym typeface="+mn-ea"/>
              </a:rPr>
            </a:br>
            <a:r>
              <a:rPr lang="en-US" altLang="zh-CN" sz="2800" dirty="0">
                <a:sym typeface="+mn-ea"/>
              </a:rPr>
              <a:t> </a:t>
            </a:r>
          </a:p>
          <a:p>
            <a:pPr algn="l">
              <a:buFont typeface="Wingdings" pitchFamily="2" charset="2"/>
              <a:buChar char="q"/>
            </a:pPr>
            <a:r>
              <a:rPr lang="en-US" altLang="zh-CN" sz="2800" dirty="0">
                <a:sym typeface="+mn-ea"/>
              </a:rPr>
              <a:t>Do you want your child to be a pastor or missionary? </a:t>
            </a:r>
          </a:p>
          <a:p>
            <a:pPr marL="357505" indent="-357505" algn="l">
              <a:buNone/>
            </a:pPr>
            <a:r>
              <a:rPr lang="en-US" altLang="zh-CN" sz="2800" dirty="0">
                <a:sym typeface="+mn-ea"/>
              </a:rPr>
              <a:t> </a:t>
            </a:r>
          </a:p>
          <a:p>
            <a:pPr marL="357505" indent="-357505" algn="l">
              <a:buNone/>
            </a:pPr>
            <a:endParaRPr lang="en-US" altLang="zh-CN" sz="2800" b="1" dirty="0">
              <a:solidFill>
                <a:srgbClr val="7030A0"/>
              </a:solidFill>
              <a:highlight>
                <a:srgbClr val="FFFF00"/>
              </a:highlight>
              <a:latin typeface="DFKai-SB" panose="03000509000000000000" pitchFamily="65" charset="-120"/>
              <a:ea typeface="DFKai-SB" panose="03000509000000000000" pitchFamily="65" charset="-12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Common Mistakes for Parenting in Adversity?</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609600" y="1174750"/>
            <a:ext cx="10972800" cy="5283200"/>
          </a:xfrm>
        </p:spPr>
        <p:txBody>
          <a:bodyPr/>
          <a:lstStyle/>
          <a:p>
            <a:r>
              <a:rPr lang="en-US" altLang="ja-JP" dirty="0">
                <a:solidFill>
                  <a:srgbClr val="1B1B1B"/>
                </a:solidFill>
                <a:latin typeface="Graphik Web"/>
              </a:rPr>
              <a:t>Admire the king’s glory, power, and palace.</a:t>
            </a:r>
          </a:p>
          <a:p>
            <a:r>
              <a:rPr lang="en-US" altLang="ja-JP" dirty="0">
                <a:solidFill>
                  <a:srgbClr val="1B1B1B"/>
                </a:solidFill>
                <a:latin typeface="Graphik Web"/>
              </a:rPr>
              <a:t>A</a:t>
            </a:r>
            <a:r>
              <a:rPr lang="en-US" altLang="ja-JP" b="0" i="0" dirty="0">
                <a:solidFill>
                  <a:srgbClr val="1B1B1B"/>
                </a:solidFill>
                <a:effectLst/>
                <a:latin typeface="Graphik Web"/>
              </a:rPr>
              <a:t>dmire the upper classes.</a:t>
            </a:r>
          </a:p>
          <a:p>
            <a:r>
              <a:rPr lang="en-US" altLang="ja-JP" dirty="0">
                <a:solidFill>
                  <a:srgbClr val="1B1B1B"/>
                </a:solidFill>
                <a:latin typeface="Graphik Web"/>
              </a:rPr>
              <a:t>A</a:t>
            </a:r>
            <a:r>
              <a:rPr lang="en-US" altLang="ja-JP" b="0" i="0" dirty="0">
                <a:solidFill>
                  <a:srgbClr val="1B1B1B"/>
                </a:solidFill>
                <a:effectLst/>
                <a:latin typeface="Graphik Web"/>
              </a:rPr>
              <a:t>dmire</a:t>
            </a:r>
            <a:r>
              <a:rPr lang="en-US" altLang="ja-JP" dirty="0">
                <a:solidFill>
                  <a:srgbClr val="1B1B1B"/>
                </a:solidFill>
                <a:latin typeface="Graphik Web"/>
              </a:rPr>
              <a:t> the famous people.</a:t>
            </a:r>
          </a:p>
          <a:p>
            <a:r>
              <a:rPr lang="en-US" altLang="ja-JP" dirty="0">
                <a:solidFill>
                  <a:srgbClr val="1B1B1B"/>
                </a:solidFill>
                <a:latin typeface="Graphik Web"/>
              </a:rPr>
              <a:t>A</a:t>
            </a:r>
            <a:r>
              <a:rPr lang="en-US" altLang="ja-JP" b="0" i="0" dirty="0">
                <a:solidFill>
                  <a:srgbClr val="1B1B1B"/>
                </a:solidFill>
                <a:effectLst/>
                <a:latin typeface="Graphik Web"/>
              </a:rPr>
              <a:t>dmire the rich people.</a:t>
            </a:r>
          </a:p>
          <a:p>
            <a:r>
              <a:rPr lang="en-US" altLang="ja-JP" dirty="0">
                <a:solidFill>
                  <a:srgbClr val="1B1B1B"/>
                </a:solidFill>
                <a:latin typeface="Graphik Web"/>
              </a:rPr>
              <a:t>Enjoy with the worldly people.</a:t>
            </a:r>
          </a:p>
          <a:p>
            <a:r>
              <a:rPr lang="en-US" altLang="ja-JP" dirty="0">
                <a:solidFill>
                  <a:srgbClr val="1B1B1B"/>
                </a:solidFill>
                <a:latin typeface="Graphik Web"/>
              </a:rPr>
              <a:t>Make friends with worldly people. </a:t>
            </a:r>
          </a:p>
        </p:txBody>
      </p:sp>
    </p:spTree>
    <p:extLst>
      <p:ext uri="{BB962C8B-B14F-4D97-AF65-F5344CB8AC3E}">
        <p14:creationId xmlns:p14="http://schemas.microsoft.com/office/powerpoint/2010/main" val="2875497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0637-01D5-847C-FC37-5CC1CAF9EE86}"/>
              </a:ext>
            </a:extLst>
          </p:cNvPr>
          <p:cNvSpPr>
            <a:spLocks noGrp="1"/>
          </p:cNvSpPr>
          <p:nvPr>
            <p:ph type="title"/>
          </p:nvPr>
        </p:nvSpPr>
        <p:spPr/>
        <p:txBody>
          <a:bodyPr/>
          <a:lstStyle/>
          <a:p>
            <a:r>
              <a:rPr lang="en-US" dirty="0"/>
              <a:t>Correct Parenting in Adversity?</a:t>
            </a:r>
          </a:p>
        </p:txBody>
      </p:sp>
      <p:sp>
        <p:nvSpPr>
          <p:cNvPr id="3" name="Content Placeholder 2">
            <a:extLst>
              <a:ext uri="{FF2B5EF4-FFF2-40B4-BE49-F238E27FC236}">
                <a16:creationId xmlns:a16="http://schemas.microsoft.com/office/drawing/2014/main" id="{64AC60E9-10B2-F6A6-E533-673A7C860760}"/>
              </a:ext>
            </a:extLst>
          </p:cNvPr>
          <p:cNvSpPr>
            <a:spLocks noGrp="1"/>
          </p:cNvSpPr>
          <p:nvPr>
            <p:ph idx="1"/>
          </p:nvPr>
        </p:nvSpPr>
        <p:spPr>
          <a:xfrm>
            <a:off x="609600" y="1174750"/>
            <a:ext cx="10972800" cy="5283200"/>
          </a:xfrm>
        </p:spPr>
        <p:txBody>
          <a:bodyPr/>
          <a:lstStyle/>
          <a:p>
            <a:r>
              <a:rPr lang="en-US" altLang="ja-JP" dirty="0">
                <a:solidFill>
                  <a:srgbClr val="1B1B1B"/>
                </a:solidFill>
                <a:latin typeface="Graphik Web"/>
              </a:rPr>
              <a:t>"Do not conform any longer to the pattern of this world, but be transformed by the renewing of your mind. Then you will be able to test and approve what God's will is -- his good, pleasing and perfect will." (Rom12:2 NIV)</a:t>
            </a:r>
            <a:br>
              <a:rPr lang="en-US" altLang="ja-JP" dirty="0">
                <a:solidFill>
                  <a:srgbClr val="1B1B1B"/>
                </a:solidFill>
                <a:latin typeface="Graphik Web"/>
              </a:rPr>
            </a:br>
            <a:br>
              <a:rPr lang="en-US" altLang="ja-JP" dirty="0">
                <a:solidFill>
                  <a:srgbClr val="1B1B1B"/>
                </a:solidFill>
                <a:latin typeface="Graphik Web"/>
              </a:rPr>
            </a:br>
            <a:r>
              <a:rPr lang="en-US" altLang="ja-JP" dirty="0">
                <a:solidFill>
                  <a:srgbClr val="1B1B1B"/>
                </a:solidFill>
                <a:latin typeface="Graphik Web"/>
              </a:rPr>
              <a:t>“</a:t>
            </a:r>
            <a:r>
              <a:rPr lang="ja-JP" altLang="en-US" b="0" i="0">
                <a:solidFill>
                  <a:srgbClr val="1B1B1B"/>
                </a:solidFill>
                <a:effectLst/>
                <a:latin typeface="Graphik Web"/>
              </a:rPr>
              <a:t>不要效法这个世界．只要心意更新而变化、叫你们察验何为　神的善良、纯全可喜悦的旨意。</a:t>
            </a:r>
            <a:r>
              <a:rPr lang="en-US" altLang="ja-JP" b="0" i="0" dirty="0">
                <a:solidFill>
                  <a:srgbClr val="1B1B1B"/>
                </a:solidFill>
                <a:effectLst/>
                <a:latin typeface="Graphik Web"/>
              </a:rPr>
              <a:t>" (Rom12:2 CUVS)</a:t>
            </a:r>
            <a:endParaRPr lang="en-US" dirty="0"/>
          </a:p>
        </p:txBody>
      </p:sp>
    </p:spTree>
    <p:extLst>
      <p:ext uri="{BB962C8B-B14F-4D97-AF65-F5344CB8AC3E}">
        <p14:creationId xmlns:p14="http://schemas.microsoft.com/office/powerpoint/2010/main" val="1743587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custDataLst>
              <p:tags r:id="rId1"/>
            </p:custDataLst>
            <p:extLst>
              <p:ext uri="{D42A27DB-BD31-4B8C-83A1-F6EECF244321}">
                <p14:modId xmlns:p14="http://schemas.microsoft.com/office/powerpoint/2010/main" val="836939043"/>
              </p:ext>
            </p:extLst>
          </p:nvPr>
        </p:nvGraphicFramePr>
        <p:xfrm>
          <a:off x="480695" y="478203"/>
          <a:ext cx="11230610" cy="6045689"/>
        </p:xfrm>
        <a:graphic>
          <a:graphicData uri="http://schemas.openxmlformats.org/drawingml/2006/table">
            <a:tbl>
              <a:tblPr firstRow="1" bandRow="1">
                <a:tableStyleId>{5C22544A-7EE6-4342-B048-85BDC9FD1C3A}</a:tableStyleId>
              </a:tblPr>
              <a:tblGrid>
                <a:gridCol w="11230610">
                  <a:extLst>
                    <a:ext uri="{9D8B030D-6E8A-4147-A177-3AD203B41FA5}">
                      <a16:colId xmlns:a16="http://schemas.microsoft.com/office/drawing/2014/main" val="20000"/>
                    </a:ext>
                  </a:extLst>
                </a:gridCol>
              </a:tblGrid>
              <a:tr h="656609">
                <a:tc>
                  <a:txBody>
                    <a:bodyPr/>
                    <a:lstStyle/>
                    <a:p>
                      <a:pPr algn="ctr">
                        <a:buNone/>
                      </a:pPr>
                      <a:r>
                        <a:rPr lang="en-US" altLang="zh-CN" sz="3200" dirty="0"/>
                        <a:t>Closing Prayer</a:t>
                      </a:r>
                    </a:p>
                  </a:txBody>
                  <a:tcPr/>
                </a:tc>
                <a:extLst>
                  <a:ext uri="{0D108BD9-81ED-4DB2-BD59-A6C34878D82A}">
                    <a16:rowId xmlns:a16="http://schemas.microsoft.com/office/drawing/2014/main" val="10000"/>
                  </a:ext>
                </a:extLst>
              </a:tr>
              <a:tr h="5389080">
                <a:tc>
                  <a:txBody>
                    <a:bodyPr/>
                    <a:lstStyle/>
                    <a:p>
                      <a:pPr algn="l">
                        <a:buNone/>
                      </a:pPr>
                      <a:r>
                        <a:rPr lang="en-US" sz="2800" i="1" dirty="0"/>
                        <a:t>Dear Heavenly Father, </a:t>
                      </a:r>
                      <a:r>
                        <a:rPr lang="en-US" sz="2800" dirty="0"/>
                        <a:t>the Lord Jesus Christ. Thank you for giving me the child. It is your property and your inheritance. May you guide me to raise your child, teach my child according to your will. Do not lead us into temptation. May your name be glorified, generation by generation, and forever. I pray in the name of Jesus. Amen.  </a:t>
                      </a:r>
                      <a:endParaRPr lang="en-US" sz="2800" i="1" dirty="0"/>
                    </a:p>
                  </a:txBody>
                  <a:tcPr marL="137160" marR="137160" marT="137160" marB="13716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6110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Text Box 5"/>
          <p:cNvSpPr txBox="1"/>
          <p:nvPr/>
        </p:nvSpPr>
        <p:spPr>
          <a:xfrm>
            <a:off x="609600" y="931862"/>
            <a:ext cx="9635099" cy="5632311"/>
          </a:xfrm>
          <a:prstGeom prst="rect">
            <a:avLst/>
          </a:prstGeom>
          <a:noFill/>
        </p:spPr>
        <p:txBody>
          <a:bodyPr wrap="square" rtlCol="0" anchor="t">
            <a:spAutoFit/>
          </a:bodyPr>
          <a:lstStyle/>
          <a:p>
            <a:pPr marL="635" indent="-635">
              <a:buNone/>
            </a:pPr>
            <a:r>
              <a:rPr lang="en-US" altLang="en-US" sz="2400" dirty="0">
                <a:sym typeface="+mn-ea"/>
              </a:rPr>
              <a:t>1. A Mighty Fortress is our God </a:t>
            </a:r>
            <a:r>
              <a:rPr lang="en-US" altLang="en-US" sz="2400" dirty="0">
                <a:sym typeface="+mn-ea"/>
                <a:hlinkClick r:id="rId2"/>
              </a:rPr>
              <a:t>https://www.youtube.com/watch?v=8XUYZoguhEQ&amp;list=RD8XUYZoguhEQ&amp;start_radio=1 </a:t>
            </a:r>
            <a:br>
              <a:rPr lang="en-US" altLang="en-US" sz="2400" dirty="0">
                <a:sym typeface="+mn-ea"/>
              </a:rPr>
            </a:br>
            <a:br>
              <a:rPr lang="en-US" altLang="en-US" sz="2400" dirty="0">
                <a:sym typeface="+mn-ea"/>
              </a:rPr>
            </a:br>
            <a:r>
              <a:rPr lang="en-US" altLang="en-US" sz="2400" dirty="0">
                <a:sym typeface="+mn-ea"/>
              </a:rPr>
              <a:t>2. A song for Children: It's Purim!</a:t>
            </a:r>
          </a:p>
          <a:p>
            <a:pPr marL="635" indent="-635">
              <a:buNone/>
            </a:pPr>
            <a:r>
              <a:rPr lang="en-US" altLang="en-US" sz="2400" dirty="0">
                <a:sym typeface="+mn-ea"/>
                <a:hlinkClick r:id="rId3">
                  <a:extLst>
                    <a:ext uri="{A12FA001-AC4F-418D-AE19-62706E023703}">
                      <ahyp:hlinkClr xmlns:ahyp="http://schemas.microsoft.com/office/drawing/2018/hyperlinkcolor" val="tx"/>
                    </a:ext>
                  </a:extLst>
                </a:hlinkClick>
              </a:rPr>
              <a:t>https://www.youtube.com/watch?v=frwpuMEVA5k</a:t>
            </a:r>
            <a:endParaRPr lang="en-US" altLang="en-US" sz="2400" dirty="0">
              <a:sym typeface="+mn-ea"/>
            </a:endParaRPr>
          </a:p>
          <a:p>
            <a:pPr marL="635" indent="-635">
              <a:buNone/>
            </a:pPr>
            <a:br>
              <a:rPr lang="en-US" altLang="en-US" sz="2400" dirty="0">
                <a:sym typeface="+mn-ea"/>
              </a:rPr>
            </a:br>
            <a:r>
              <a:rPr lang="en-US" altLang="en-US" sz="2400" dirty="0">
                <a:sym typeface="+mn-ea"/>
              </a:rPr>
              <a:t>3. Purim - New York Boys Choir - </a:t>
            </a:r>
            <a:r>
              <a:rPr lang="en-US" altLang="en-US" sz="2400" dirty="0" err="1">
                <a:sym typeface="+mn-ea"/>
              </a:rPr>
              <a:t>Hipil</a:t>
            </a:r>
            <a:r>
              <a:rPr lang="en-US" altLang="en-US" sz="2400" dirty="0">
                <a:sym typeface="+mn-ea"/>
              </a:rPr>
              <a:t> </a:t>
            </a:r>
            <a:r>
              <a:rPr lang="en-US" altLang="en-US" sz="2400" dirty="0" err="1">
                <a:sym typeface="+mn-ea"/>
              </a:rPr>
              <a:t>Pur</a:t>
            </a:r>
            <a:r>
              <a:rPr lang="en-US" altLang="en-US" sz="2400" dirty="0">
                <a:sym typeface="+mn-ea"/>
              </a:rPr>
              <a:t> </a:t>
            </a:r>
          </a:p>
          <a:p>
            <a:pPr marL="635" indent="-635">
              <a:buNone/>
            </a:pPr>
            <a:r>
              <a:rPr lang="en-US" altLang="en-US" sz="2400" dirty="0">
                <a:sym typeface="+mn-ea"/>
                <a:hlinkClick r:id="rId4">
                  <a:extLst>
                    <a:ext uri="{A12FA001-AC4F-418D-AE19-62706E023703}">
                      <ahyp:hlinkClr xmlns:ahyp="http://schemas.microsoft.com/office/drawing/2018/hyperlinkcolor" val="tx"/>
                    </a:ext>
                  </a:extLst>
                </a:hlinkClick>
              </a:rPr>
              <a:t>https://www.youtube.com/watch?v=7AMpwghyjwg&amp;list=RD7AMpwghyjwg&amp;start_radio=1</a:t>
            </a:r>
            <a:br>
              <a:rPr lang="en-US" altLang="en-US" sz="2400" dirty="0">
                <a:sym typeface="+mn-ea"/>
              </a:rPr>
            </a:br>
            <a:br>
              <a:rPr lang="en-US" altLang="en-US" sz="2400" dirty="0">
                <a:sym typeface="+mn-ea"/>
              </a:rPr>
            </a:br>
            <a:r>
              <a:rPr lang="en-US" altLang="en-US" sz="2400" dirty="0">
                <a:sym typeface="+mn-ea"/>
              </a:rPr>
              <a:t>4. The Purim Song </a:t>
            </a:r>
            <a:br>
              <a:rPr lang="en-US" altLang="en-US" sz="2400" dirty="0">
                <a:sym typeface="+mn-ea"/>
              </a:rPr>
            </a:br>
            <a:r>
              <a:rPr lang="en-US" altLang="en-US" sz="2400" dirty="0">
                <a:sym typeface="+mn-ea"/>
                <a:hlinkClick r:id="rId5">
                  <a:extLst>
                    <a:ext uri="{A12FA001-AC4F-418D-AE19-62706E023703}">
                      <ahyp:hlinkClr xmlns:ahyp="http://schemas.microsoft.com/office/drawing/2018/hyperlinkcolor" val="tx"/>
                    </a:ext>
                  </a:extLst>
                </a:hlinkClick>
              </a:rPr>
              <a:t>https://www.youtube.com/watch?v=BDEnbL0FOUs&amp;list=RDBDEnbL0FOUs&amp;start_radio=1</a:t>
            </a:r>
            <a:r>
              <a:rPr lang="en-US" altLang="en-US" sz="2400" dirty="0">
                <a:sym typeface="+mn-ea"/>
              </a:rPr>
              <a:t> </a:t>
            </a:r>
          </a:p>
          <a:p>
            <a:pPr marL="635" indent="-635">
              <a:buNone/>
            </a:pPr>
            <a:endParaRPr lang="en-US" altLang="en-US" sz="2400" dirty="0">
              <a:sym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WPP_GENERATETEXT" val="1"/>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84*430"/>
  <p:tag name="TABLE_ENDDRAG_RECT" val="39*87*884*430"/>
</p:tagLst>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4446</TotalTime>
  <Words>982</Words>
  <Application>Microsoft Macintosh PowerPoint</Application>
  <PresentationFormat>Widescreen</PresentationFormat>
  <Paragraphs>48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DFKai-SB</vt:lpstr>
      <vt:lpstr>Graphik Web</vt:lpstr>
      <vt:lpstr>Wingdings</vt:lpstr>
      <vt:lpstr>Orange Waves</vt:lpstr>
      <vt:lpstr>Esther (以斯帖) Chapter 1  Book of Esther  and  Parenting in Adversity 逆境中教养孩子  </vt:lpstr>
      <vt:lpstr>Time of the Story</vt:lpstr>
      <vt:lpstr>PowerPoint Presentation</vt:lpstr>
      <vt:lpstr>PowerPoint Presentation</vt:lpstr>
      <vt:lpstr>PowerPoint Presentation</vt:lpstr>
      <vt:lpstr>PowerPoint Presentation</vt:lpstr>
      <vt:lpstr>How Strong our Enemy Is: </vt:lpstr>
      <vt:lpstr>How Weak We Are: </vt:lpstr>
      <vt:lpstr>個人反思 </vt:lpstr>
      <vt:lpstr>Common Mistakes for Parenting in Adversity?</vt:lpstr>
      <vt:lpstr>Correct Parenting in Adversity?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約書亞記四章19-24節</dc:title>
  <dc:creator>STEVE LIN</dc:creator>
  <cp:lastModifiedBy>Charles D</cp:lastModifiedBy>
  <cp:revision>260</cp:revision>
  <dcterms:created xsi:type="dcterms:W3CDTF">2024-01-10T14:09:00Z</dcterms:created>
  <dcterms:modified xsi:type="dcterms:W3CDTF">2026-02-13T17:12:52Z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E2CDD37EF5E445F8B804523E65AA62AC_13</vt:lpwstr>
  </property>
  <property fmtid="{D5CDD505-2E9C-101B-9397-08002B2CF9AE}" pid="3" name="KSOProductBuildVer">
    <vt:lpwstr>1033-12.2.0.21931</vt:lpwstr>
  </property>
</Properties>
</file>